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221F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638175" cy="5143500"/>
          </a:xfrm>
          <a:prstGeom prst="rect">
            <a:avLst/>
          </a:prstGeom>
          <a:solidFill>
            <a:srgbClr val="0E5663"/>
          </a:solidFill>
          <a:ln/>
        </p:spPr>
      </p:sp>
      <p:sp>
        <p:nvSpPr>
          <p:cNvPr id="4" name="Shape 2"/>
          <p:cNvSpPr/>
          <p:nvPr/>
        </p:nvSpPr>
        <p:spPr>
          <a:xfrm>
            <a:off x="5211142" y="0"/>
            <a:ext cx="3933825" cy="5143500"/>
          </a:xfrm>
          <a:prstGeom prst="rect">
            <a:avLst/>
          </a:prstGeom>
          <a:solidFill>
            <a:srgbClr val="E6DDD0"/>
          </a:solidFill>
          <a:ln/>
        </p:spPr>
      </p:sp>
      <p:sp>
        <p:nvSpPr>
          <p:cNvPr id="5" name="Shape 3"/>
          <p:cNvSpPr/>
          <p:nvPr/>
        </p:nvSpPr>
        <p:spPr>
          <a:xfrm>
            <a:off x="5212110" y="513383"/>
            <a:ext cx="3657600" cy="3705225"/>
          </a:xfrm>
          <a:prstGeom prst="rect">
            <a:avLst/>
          </a:prstGeom>
          <a:ln w="4763">
            <a:solidFill>
              <a:srgbClr val="F3EFE7"/>
            </a:solidFill>
            <a:prstDash val="solid"/>
          </a:ln>
          <a:effectLst>
            <a:outerShdw sx="100000" sy="100000" kx="0" ky="0" algn="bl" rotWithShape="0" blurRad="238125" dist="119063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872" y="518145"/>
            <a:ext cx="3648075" cy="36957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6156" y="700943"/>
            <a:ext cx="38100" cy="38100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8" name="Text 5"/>
          <p:cNvSpPr/>
          <p:nvPr/>
        </p:nvSpPr>
        <p:spPr>
          <a:xfrm>
            <a:off x="1224558" y="631478"/>
            <a:ext cx="33710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B7C8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 · PROJECT 03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1097235" y="919014"/>
            <a:ext cx="3315489" cy="78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4820" b="1" spc="-338" kern="0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</a:t>
            </a:r>
            <a:endParaRPr lang="en-US" sz="4820" dirty="0"/>
          </a:p>
        </p:txBody>
      </p:sp>
      <p:sp>
        <p:nvSpPr>
          <p:cNvPr id="10" name="Text 7"/>
          <p:cNvSpPr/>
          <p:nvPr/>
        </p:nvSpPr>
        <p:spPr>
          <a:xfrm>
            <a:off x="1097235" y="1494904"/>
            <a:ext cx="2376160" cy="78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4820" b="1" spc="-338" kern="0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Cohort</a:t>
            </a:r>
            <a:endParaRPr lang="en-US" sz="4820" dirty="0"/>
          </a:p>
        </p:txBody>
      </p:sp>
      <p:sp>
        <p:nvSpPr>
          <p:cNvPr id="11" name="Text 8"/>
          <p:cNvSpPr/>
          <p:nvPr/>
        </p:nvSpPr>
        <p:spPr>
          <a:xfrm>
            <a:off x="1097235" y="2070795"/>
            <a:ext cx="3348573" cy="78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4820" b="1" spc="-338" kern="0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Retention</a:t>
            </a:r>
            <a:endParaRPr lang="en-US" sz="4820" dirty="0"/>
          </a:p>
        </p:txBody>
      </p:sp>
      <p:sp>
        <p:nvSpPr>
          <p:cNvPr id="12" name="Text 9"/>
          <p:cNvSpPr/>
          <p:nvPr/>
        </p:nvSpPr>
        <p:spPr>
          <a:xfrm>
            <a:off x="1097235" y="2646685"/>
            <a:ext cx="2806162" cy="785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4820" b="1" spc="-338" kern="0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Analysis</a:t>
            </a:r>
            <a:endParaRPr lang="en-US" sz="4820" dirty="0"/>
          </a:p>
        </p:txBody>
      </p:sp>
      <p:sp>
        <p:nvSpPr>
          <p:cNvPr id="13" name="Text 10"/>
          <p:cNvSpPr/>
          <p:nvPr/>
        </p:nvSpPr>
        <p:spPr>
          <a:xfrm>
            <a:off x="1262955" y="3575000"/>
            <a:ext cx="365910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1580" dirty="0">
                <a:solidFill>
                  <a:srgbClr val="D4DF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customers aren't coming</a:t>
            </a:r>
            <a:endParaRPr lang="en-US" sz="1580" dirty="0"/>
          </a:p>
        </p:txBody>
      </p:sp>
      <p:sp>
        <p:nvSpPr>
          <p:cNvPr id="14" name="Text 11"/>
          <p:cNvSpPr/>
          <p:nvPr/>
        </p:nvSpPr>
        <p:spPr>
          <a:xfrm>
            <a:off x="1262955" y="3812307"/>
            <a:ext cx="362360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1580" dirty="0">
                <a:solidFill>
                  <a:srgbClr val="D4DF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 — and what to do about</a:t>
            </a:r>
            <a:endParaRPr lang="en-US" sz="1580" dirty="0"/>
          </a:p>
        </p:txBody>
      </p:sp>
      <p:sp>
        <p:nvSpPr>
          <p:cNvPr id="15" name="Text 12"/>
          <p:cNvSpPr/>
          <p:nvPr/>
        </p:nvSpPr>
        <p:spPr>
          <a:xfrm>
            <a:off x="1262955" y="4049613"/>
            <a:ext cx="222476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1580" dirty="0">
                <a:solidFill>
                  <a:srgbClr val="D4DF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</a:t>
            </a:r>
            <a:endParaRPr lang="en-US" sz="1580" dirty="0"/>
          </a:p>
        </p:txBody>
      </p:sp>
      <p:sp>
        <p:nvSpPr>
          <p:cNvPr id="16" name="Text 13"/>
          <p:cNvSpPr/>
          <p:nvPr/>
        </p:nvSpPr>
        <p:spPr>
          <a:xfrm>
            <a:off x="1097235" y="4153123"/>
            <a:ext cx="553679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Executive presentation · E-commerce growth stakeholders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548580" y="4746427"/>
            <a:ext cx="1643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B7C8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4050878" y="4741664"/>
            <a:ext cx="2775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43" kern="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RETENTION ANALYSIS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8423970" y="4746427"/>
            <a:ext cx="2800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B7C8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08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6268" y="3590441"/>
            <a:ext cx="3019425" cy="7096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67"/>
            <a:ext cx="2743200" cy="104775"/>
          </a:xfrm>
          <a:prstGeom prst="rect">
            <a:avLst/>
          </a:prstGeom>
          <a:solidFill>
            <a:srgbClr val="E46B52"/>
          </a:solidFill>
          <a:ln/>
        </p:spPr>
      </p:sp>
      <p:sp>
        <p:nvSpPr>
          <p:cNvPr id="4" name="Shape 2"/>
          <p:cNvSpPr/>
          <p:nvPr/>
        </p:nvSpPr>
        <p:spPr>
          <a:xfrm>
            <a:off x="547501" y="495188"/>
            <a:ext cx="38100" cy="38100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5" name="Text 3"/>
          <p:cNvSpPr/>
          <p:nvPr/>
        </p:nvSpPr>
        <p:spPr>
          <a:xfrm>
            <a:off x="675903" y="425723"/>
            <a:ext cx="236929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EXECUTIVE SUMMARY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677838"/>
            <a:ext cx="7462562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70" b="1" spc="-190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Repeat purchasing is structurally</a:t>
            </a:r>
            <a:endParaRPr lang="en-US" sz="3170" dirty="0"/>
          </a:p>
        </p:txBody>
      </p:sp>
      <p:sp>
        <p:nvSpPr>
          <p:cNvPr id="7" name="Text 5"/>
          <p:cNvSpPr/>
          <p:nvPr/>
        </p:nvSpPr>
        <p:spPr>
          <a:xfrm>
            <a:off x="548580" y="1088231"/>
            <a:ext cx="686230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70" b="1" spc="-190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absent — not simply declining.</a:t>
            </a:r>
            <a:endParaRPr lang="en-US" sz="3170" dirty="0"/>
          </a:p>
        </p:txBody>
      </p:sp>
      <p:sp>
        <p:nvSpPr>
          <p:cNvPr id="8" name="Shape 6"/>
          <p:cNvSpPr/>
          <p:nvPr/>
        </p:nvSpPr>
        <p:spPr>
          <a:xfrm>
            <a:off x="548432" y="1807071"/>
            <a:ext cx="4124325" cy="2243138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548580" y="1857673"/>
            <a:ext cx="2619554" cy="1047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480" b="1" spc="-648" kern="0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0.33%</a:t>
            </a:r>
            <a:endParaRPr lang="en-US" sz="6480" dirty="0"/>
          </a:p>
        </p:txBody>
      </p:sp>
      <p:sp>
        <p:nvSpPr>
          <p:cNvPr id="10" name="Text 8"/>
          <p:cNvSpPr/>
          <p:nvPr/>
        </p:nvSpPr>
        <p:spPr>
          <a:xfrm>
            <a:off x="548580" y="2852961"/>
            <a:ext cx="328230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58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month-1 retention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548580" y="3084240"/>
            <a:ext cx="280229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58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across mature cohorts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548580" y="3484066"/>
            <a:ext cx="511482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Roughly 1 in 300 customers returns within a month.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21188" y="1727225"/>
            <a:ext cx="1891018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60" b="1" spc="-357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0.65%</a:t>
            </a:r>
            <a:endParaRPr lang="en-US" sz="4460" dirty="0"/>
          </a:p>
        </p:txBody>
      </p:sp>
      <p:sp>
        <p:nvSpPr>
          <p:cNvPr id="14" name="Text 12"/>
          <p:cNvSpPr/>
          <p:nvPr/>
        </p:nvSpPr>
        <p:spPr>
          <a:xfrm>
            <a:off x="5221188" y="2417043"/>
            <a:ext cx="14571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observed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5221188" y="2603525"/>
            <a:ext cx="199307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post-acquisition retention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5221188" y="2790006"/>
            <a:ext cx="20096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any cohort-month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5219998" y="3165872"/>
            <a:ext cx="3376612" cy="9525"/>
          </a:xfrm>
          <a:prstGeom prst="rect">
            <a:avLst/>
          </a:prstGeom>
          <a:solidFill>
            <a:srgbClr val="C5D0C8"/>
          </a:solidFill>
          <a:ln/>
        </p:spPr>
      </p:sp>
      <p:sp>
        <p:nvSpPr>
          <p:cNvPr id="18" name="Text 16"/>
          <p:cNvSpPr/>
          <p:nvPr/>
        </p:nvSpPr>
        <p:spPr>
          <a:xfrm>
            <a:off x="5221188" y="3331443"/>
            <a:ext cx="332255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6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business runs almost</a:t>
            </a:r>
            <a:endParaRPr lang="en-US" sz="1660" dirty="0"/>
          </a:p>
        </p:txBody>
      </p:sp>
      <p:sp>
        <p:nvSpPr>
          <p:cNvPr id="19" name="Text 17"/>
          <p:cNvSpPr/>
          <p:nvPr/>
        </p:nvSpPr>
        <p:spPr>
          <a:xfrm>
            <a:off x="5221188" y="3562722"/>
            <a:ext cx="341242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6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entirely on new-customer</a:t>
            </a:r>
            <a:endParaRPr lang="en-US" sz="1660" dirty="0"/>
          </a:p>
        </p:txBody>
      </p:sp>
      <p:sp>
        <p:nvSpPr>
          <p:cNvPr id="20" name="Text 18"/>
          <p:cNvSpPr/>
          <p:nvPr/>
        </p:nvSpPr>
        <p:spPr>
          <a:xfrm>
            <a:off x="5221188" y="3794001"/>
            <a:ext cx="154247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6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acquisition.</a:t>
            </a:r>
            <a:endParaRPr lang="en-US" sz="1660" dirty="0"/>
          </a:p>
        </p:txBody>
      </p:sp>
      <p:sp>
        <p:nvSpPr>
          <p:cNvPr id="21" name="Text 19"/>
          <p:cNvSpPr/>
          <p:nvPr/>
        </p:nvSpPr>
        <p:spPr>
          <a:xfrm>
            <a:off x="548580" y="4746427"/>
            <a:ext cx="1643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040460" y="4741664"/>
            <a:ext cx="2775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43" kern="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RETENTION ANALYSIS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8403134" y="4746427"/>
            <a:ext cx="3071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08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432" y="1807071"/>
            <a:ext cx="4124325" cy="22431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DDD1"/>
          </a:solidFill>
          <a:ln/>
        </p:spPr>
      </p:sp>
      <p:sp>
        <p:nvSpPr>
          <p:cNvPr id="3" name="Shape 1"/>
          <p:cNvSpPr/>
          <p:nvPr/>
        </p:nvSpPr>
        <p:spPr>
          <a:xfrm>
            <a:off x="5852666" y="2467942"/>
            <a:ext cx="3290887" cy="2676525"/>
          </a:xfrm>
          <a:prstGeom prst="rect">
            <a:avLst/>
          </a:prstGeom>
          <a:solidFill>
            <a:srgbClr val="0E5663"/>
          </a:solidFill>
          <a:ln/>
        </p:spPr>
      </p:sp>
      <p:sp>
        <p:nvSpPr>
          <p:cNvPr id="4" name="Text 2"/>
          <p:cNvSpPr/>
          <p:nvPr/>
        </p:nvSpPr>
        <p:spPr>
          <a:xfrm>
            <a:off x="7622530" y="864840"/>
            <a:ext cx="1203015" cy="2452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120" b="1" spc="-1814" kern="0" dirty="0">
                <a:solidFill>
                  <a:srgbClr val="E8E1D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?</a:t>
            </a:r>
            <a:endParaRPr lang="en-US" sz="15120" dirty="0"/>
          </a:p>
        </p:txBody>
      </p:sp>
      <p:sp>
        <p:nvSpPr>
          <p:cNvPr id="5" name="Shape 3"/>
          <p:cNvSpPr/>
          <p:nvPr/>
        </p:nvSpPr>
        <p:spPr>
          <a:xfrm>
            <a:off x="547501" y="495188"/>
            <a:ext cx="38100" cy="38100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6" name="Text 4"/>
          <p:cNvSpPr/>
          <p:nvPr/>
        </p:nvSpPr>
        <p:spPr>
          <a:xfrm>
            <a:off x="675903" y="425723"/>
            <a:ext cx="219351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PROBLEM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548580" y="673075"/>
            <a:ext cx="7933387" cy="561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60" b="1" spc="-242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are customers not returning</a:t>
            </a:r>
            <a:endParaRPr lang="en-US" sz="3460" dirty="0"/>
          </a:p>
        </p:txBody>
      </p:sp>
      <p:sp>
        <p:nvSpPr>
          <p:cNvPr id="8" name="Text 6"/>
          <p:cNvSpPr/>
          <p:nvPr/>
        </p:nvSpPr>
        <p:spPr>
          <a:xfrm>
            <a:off x="548580" y="1120676"/>
            <a:ext cx="5173154" cy="561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60" b="1" spc="-242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after their first order?</a:t>
            </a:r>
            <a:endParaRPr lang="en-US" sz="3460" dirty="0"/>
          </a:p>
        </p:txBody>
      </p:sp>
      <p:sp>
        <p:nvSpPr>
          <p:cNvPr id="9" name="Shape 7"/>
          <p:cNvSpPr/>
          <p:nvPr/>
        </p:nvSpPr>
        <p:spPr>
          <a:xfrm>
            <a:off x="547687" y="2030834"/>
            <a:ext cx="42863" cy="42863"/>
          </a:xfrm>
          <a:prstGeom prst="ellipse">
            <a:avLst/>
          </a:prstGeom>
          <a:solidFill>
            <a:srgbClr val="0E5663"/>
          </a:solidFill>
          <a:ln/>
        </p:spPr>
      </p:sp>
      <p:sp>
        <p:nvSpPr>
          <p:cNvPr id="10" name="Text 8"/>
          <p:cNvSpPr/>
          <p:nvPr/>
        </p:nvSpPr>
        <p:spPr>
          <a:xfrm>
            <a:off x="699343" y="1985251"/>
            <a:ext cx="4143278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acquisition cost cannot be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amortized over repeat purchases.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547687" y="2642295"/>
            <a:ext cx="42863" cy="42863"/>
          </a:xfrm>
          <a:prstGeom prst="ellipse">
            <a:avLst/>
          </a:prstGeom>
          <a:solidFill>
            <a:srgbClr val="0E5663"/>
          </a:solidFill>
          <a:ln/>
        </p:spPr>
      </p:sp>
      <p:sp>
        <p:nvSpPr>
          <p:cNvPr id="12" name="Text 10"/>
          <p:cNvSpPr/>
          <p:nvPr/>
        </p:nvSpPr>
        <p:spPr>
          <a:xfrm>
            <a:off x="699343" y="2596711"/>
            <a:ext cx="4767917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 retention constrains customer lifetime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value before it has time to compound.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547687" y="3253755"/>
            <a:ext cx="42863" cy="42863"/>
          </a:xfrm>
          <a:prstGeom prst="ellipse">
            <a:avLst/>
          </a:prstGeom>
          <a:solidFill>
            <a:srgbClr val="0E5663"/>
          </a:solidFill>
          <a:ln/>
        </p:spPr>
      </p:sp>
      <p:sp>
        <p:nvSpPr>
          <p:cNvPr id="14" name="Text 12"/>
          <p:cNvSpPr/>
          <p:nvPr/>
        </p:nvSpPr>
        <p:spPr>
          <a:xfrm>
            <a:off x="699343" y="3208172"/>
            <a:ext cx="489745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Scaling acquisition alone increases volume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without repairing the underlying economics.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5468020" y="1961629"/>
            <a:ext cx="3745490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70" dirty="0">
                <a:solidFill>
                  <a:srgbClr val="F3EF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growth question is no</a:t>
            </a:r>
            <a:endParaRPr lang="en-US" sz="1870" dirty="0"/>
          </a:p>
        </p:txBody>
      </p:sp>
      <p:sp>
        <p:nvSpPr>
          <p:cNvPr id="16" name="Text 14"/>
          <p:cNvSpPr/>
          <p:nvPr/>
        </p:nvSpPr>
        <p:spPr>
          <a:xfrm>
            <a:off x="5468020" y="2227883"/>
            <a:ext cx="3831684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70" dirty="0">
                <a:solidFill>
                  <a:srgbClr val="F3EF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longer “how do we acquire</a:t>
            </a:r>
            <a:endParaRPr lang="en-US" sz="1870" dirty="0"/>
          </a:p>
        </p:txBody>
      </p:sp>
      <p:sp>
        <p:nvSpPr>
          <p:cNvPr id="17" name="Text 15"/>
          <p:cNvSpPr/>
          <p:nvPr/>
        </p:nvSpPr>
        <p:spPr>
          <a:xfrm>
            <a:off x="5468020" y="2494136"/>
            <a:ext cx="3575618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70" dirty="0">
                <a:solidFill>
                  <a:srgbClr val="F3EF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more?” — it is “why does</a:t>
            </a:r>
            <a:endParaRPr lang="en-US" sz="1870" dirty="0"/>
          </a:p>
        </p:txBody>
      </p:sp>
      <p:sp>
        <p:nvSpPr>
          <p:cNvPr id="18" name="Text 16"/>
          <p:cNvSpPr/>
          <p:nvPr/>
        </p:nvSpPr>
        <p:spPr>
          <a:xfrm>
            <a:off x="5468020" y="2760390"/>
            <a:ext cx="3214107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70" dirty="0">
                <a:solidFill>
                  <a:srgbClr val="F3EF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first order end the</a:t>
            </a:r>
            <a:endParaRPr lang="en-US" sz="1870" dirty="0"/>
          </a:p>
        </p:txBody>
      </p:sp>
      <p:sp>
        <p:nvSpPr>
          <p:cNvPr id="19" name="Text 17"/>
          <p:cNvSpPr/>
          <p:nvPr/>
        </p:nvSpPr>
        <p:spPr>
          <a:xfrm>
            <a:off x="5468020" y="3026643"/>
            <a:ext cx="1996075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70" dirty="0">
                <a:solidFill>
                  <a:srgbClr val="F3EF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relationship?”</a:t>
            </a:r>
            <a:endParaRPr lang="en-US" sz="1870" dirty="0"/>
          </a:p>
        </p:txBody>
      </p:sp>
      <p:sp>
        <p:nvSpPr>
          <p:cNvPr id="20" name="Text 18"/>
          <p:cNvSpPr/>
          <p:nvPr/>
        </p:nvSpPr>
        <p:spPr>
          <a:xfrm>
            <a:off x="548580" y="4746427"/>
            <a:ext cx="1643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4039642" y="4741664"/>
            <a:ext cx="2775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43" kern="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RETENTION ANALYSIS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8401496" y="4746427"/>
            <a:ext cx="3091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8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3690" y="1984921"/>
            <a:ext cx="3362325" cy="16811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3" name="Shape 1"/>
          <p:cNvSpPr/>
          <p:nvPr/>
        </p:nvSpPr>
        <p:spPr>
          <a:xfrm>
            <a:off x="547501" y="495188"/>
            <a:ext cx="38100" cy="38100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4" name="Text 2"/>
          <p:cNvSpPr/>
          <p:nvPr/>
        </p:nvSpPr>
        <p:spPr>
          <a:xfrm>
            <a:off x="675903" y="425723"/>
            <a:ext cx="35519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QUESTIONS EXPLORED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677838"/>
            <a:ext cx="8111192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70" b="1" spc="-190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Six questions connect the retention</a:t>
            </a:r>
            <a:endParaRPr lang="en-US" sz="3170" dirty="0"/>
          </a:p>
        </p:txBody>
      </p:sp>
      <p:sp>
        <p:nvSpPr>
          <p:cNvPr id="6" name="Text 4"/>
          <p:cNvSpPr/>
          <p:nvPr/>
        </p:nvSpPr>
        <p:spPr>
          <a:xfrm>
            <a:off x="548580" y="1088231"/>
            <a:ext cx="6493825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70" b="1" spc="-190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signal to the growth agenda.</a:t>
            </a:r>
            <a:endParaRPr lang="en-US" sz="3170" dirty="0"/>
          </a:p>
        </p:txBody>
      </p:sp>
      <p:sp>
        <p:nvSpPr>
          <p:cNvPr id="7" name="Text 5"/>
          <p:cNvSpPr/>
          <p:nvPr/>
        </p:nvSpPr>
        <p:spPr>
          <a:xfrm>
            <a:off x="548580" y="1836762"/>
            <a:ext cx="44584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1012106" y="1827237"/>
            <a:ext cx="3763194" cy="5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151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% making a second purchase —</a:t>
            </a:r>
            <a:endParaRPr lang="en-US" sz="1510" dirty="0"/>
          </a:p>
          <a:p>
            <a:pPr algn="l" indent="0" marL="0">
              <a:lnSpc>
                <a:spcPts val="2268"/>
              </a:lnSpc>
              <a:buNone/>
            </a:pPr>
            <a:r>
              <a:rPr lang="en-US" sz="151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when?</a:t>
            </a:r>
            <a:endParaRPr lang="en-US" sz="1510" dirty="0"/>
          </a:p>
        </p:txBody>
      </p:sp>
      <p:sp>
        <p:nvSpPr>
          <p:cNvPr id="9" name="Shape 7"/>
          <p:cNvSpPr/>
          <p:nvPr/>
        </p:nvSpPr>
        <p:spPr>
          <a:xfrm>
            <a:off x="1012775" y="2384003"/>
            <a:ext cx="3238500" cy="9525"/>
          </a:xfrm>
          <a:prstGeom prst="rect">
            <a:avLst/>
          </a:prstGeom>
          <a:solidFill>
            <a:srgbClr val="C5D0C8"/>
          </a:solidFill>
          <a:ln/>
        </p:spPr>
      </p:sp>
      <p:sp>
        <p:nvSpPr>
          <p:cNvPr id="10" name="Text 8"/>
          <p:cNvSpPr/>
          <p:nvPr/>
        </p:nvSpPr>
        <p:spPr>
          <a:xfrm>
            <a:off x="4891980" y="1836762"/>
            <a:ext cx="50011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160" dirty="0"/>
          </a:p>
        </p:txBody>
      </p:sp>
      <p:sp>
        <p:nvSpPr>
          <p:cNvPr id="11" name="Text 9"/>
          <p:cNvSpPr/>
          <p:nvPr/>
        </p:nvSpPr>
        <p:spPr>
          <a:xfrm>
            <a:off x="5397252" y="1827237"/>
            <a:ext cx="4010650" cy="5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151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much does retention vary by</a:t>
            </a:r>
            <a:endParaRPr lang="en-US" sz="1510" dirty="0"/>
          </a:p>
          <a:p>
            <a:pPr algn="l" indent="0" marL="0">
              <a:lnSpc>
                <a:spcPts val="2268"/>
              </a:lnSpc>
              <a:buNone/>
            </a:pPr>
            <a:r>
              <a:rPr lang="en-US" sz="151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cohort?</a:t>
            </a:r>
            <a:endParaRPr lang="en-US" sz="1510" dirty="0"/>
          </a:p>
        </p:txBody>
      </p:sp>
      <p:sp>
        <p:nvSpPr>
          <p:cNvPr id="12" name="Shape 10"/>
          <p:cNvSpPr/>
          <p:nvPr/>
        </p:nvSpPr>
        <p:spPr>
          <a:xfrm>
            <a:off x="5396136" y="2384003"/>
            <a:ext cx="3200400" cy="9525"/>
          </a:xfrm>
          <a:prstGeom prst="rect">
            <a:avLst/>
          </a:prstGeom>
          <a:solidFill>
            <a:srgbClr val="C5D0C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580" y="2596828"/>
            <a:ext cx="50398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160" dirty="0"/>
          </a:p>
        </p:txBody>
      </p:sp>
      <p:sp>
        <p:nvSpPr>
          <p:cNvPr id="14" name="Text 12"/>
          <p:cNvSpPr/>
          <p:nvPr/>
        </p:nvSpPr>
        <p:spPr>
          <a:xfrm>
            <a:off x="1056829" y="2587303"/>
            <a:ext cx="392426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1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retention improving over time?</a:t>
            </a:r>
            <a:endParaRPr lang="en-US" sz="1510" dirty="0"/>
          </a:p>
        </p:txBody>
      </p:sp>
      <p:sp>
        <p:nvSpPr>
          <p:cNvPr id="15" name="Shape 13"/>
          <p:cNvSpPr/>
          <p:nvPr/>
        </p:nvSpPr>
        <p:spPr>
          <a:xfrm>
            <a:off x="1055898" y="2856086"/>
            <a:ext cx="2976562" cy="9525"/>
          </a:xfrm>
          <a:prstGeom prst="rect">
            <a:avLst/>
          </a:prstGeom>
          <a:solidFill>
            <a:srgbClr val="C5D0C8"/>
          </a:solidFill>
          <a:ln/>
        </p:spPr>
      </p:sp>
      <p:sp>
        <p:nvSpPr>
          <p:cNvPr id="16" name="Text 14"/>
          <p:cNvSpPr/>
          <p:nvPr/>
        </p:nvSpPr>
        <p:spPr>
          <a:xfrm>
            <a:off x="4891980" y="2596828"/>
            <a:ext cx="513271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160" dirty="0"/>
          </a:p>
        </p:txBody>
      </p:sp>
      <p:sp>
        <p:nvSpPr>
          <p:cNvPr id="17" name="Text 15"/>
          <p:cNvSpPr/>
          <p:nvPr/>
        </p:nvSpPr>
        <p:spPr>
          <a:xfrm>
            <a:off x="5407372" y="2587303"/>
            <a:ext cx="349638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1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Which segments retain best?</a:t>
            </a:r>
            <a:endParaRPr lang="en-US" sz="1510" dirty="0"/>
          </a:p>
        </p:txBody>
      </p:sp>
      <p:sp>
        <p:nvSpPr>
          <p:cNvPr id="18" name="Shape 16"/>
          <p:cNvSpPr/>
          <p:nvPr/>
        </p:nvSpPr>
        <p:spPr>
          <a:xfrm>
            <a:off x="5406182" y="2856086"/>
            <a:ext cx="2647950" cy="9525"/>
          </a:xfrm>
          <a:prstGeom prst="rect">
            <a:avLst/>
          </a:prstGeom>
          <a:solidFill>
            <a:srgbClr val="C5D0C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580" y="3183136"/>
            <a:ext cx="501469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2160" dirty="0"/>
          </a:p>
        </p:txBody>
      </p:sp>
      <p:sp>
        <p:nvSpPr>
          <p:cNvPr id="20" name="Text 18"/>
          <p:cNvSpPr/>
          <p:nvPr/>
        </p:nvSpPr>
        <p:spPr>
          <a:xfrm>
            <a:off x="1054894" y="3173611"/>
            <a:ext cx="3557141" cy="5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151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is the biggest drop-off</a:t>
            </a:r>
            <a:endParaRPr lang="en-US" sz="1510" dirty="0"/>
          </a:p>
          <a:p>
            <a:pPr algn="l" indent="0" marL="0">
              <a:lnSpc>
                <a:spcPts val="2268"/>
              </a:lnSpc>
              <a:buNone/>
            </a:pPr>
            <a:r>
              <a:rPr lang="en-US" sz="151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point?</a:t>
            </a:r>
            <a:endParaRPr lang="en-US" sz="1510" dirty="0"/>
          </a:p>
        </p:txBody>
      </p:sp>
      <p:sp>
        <p:nvSpPr>
          <p:cNvPr id="21" name="Shape 19"/>
          <p:cNvSpPr/>
          <p:nvPr/>
        </p:nvSpPr>
        <p:spPr>
          <a:xfrm>
            <a:off x="1055601" y="3730377"/>
            <a:ext cx="3195638" cy="9525"/>
          </a:xfrm>
          <a:prstGeom prst="rect">
            <a:avLst/>
          </a:prstGeom>
          <a:solidFill>
            <a:srgbClr val="C5D0C8"/>
          </a:solidFill>
          <a:ln/>
        </p:spPr>
      </p:sp>
      <p:sp>
        <p:nvSpPr>
          <p:cNvPr id="22" name="Text 20"/>
          <p:cNvSpPr/>
          <p:nvPr/>
        </p:nvSpPr>
        <p:spPr>
          <a:xfrm>
            <a:off x="4891980" y="3183136"/>
            <a:ext cx="507563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2160" dirty="0"/>
          </a:p>
        </p:txBody>
      </p:sp>
      <p:sp>
        <p:nvSpPr>
          <p:cNvPr id="23" name="Text 21"/>
          <p:cNvSpPr/>
          <p:nvPr/>
        </p:nvSpPr>
        <p:spPr>
          <a:xfrm>
            <a:off x="5402982" y="3173611"/>
            <a:ext cx="3597868" cy="5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151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is the revenue impact of</a:t>
            </a:r>
            <a:endParaRPr lang="en-US" sz="1510" dirty="0"/>
          </a:p>
          <a:p>
            <a:pPr algn="l" indent="0" marL="0">
              <a:lnSpc>
                <a:spcPts val="2268"/>
              </a:lnSpc>
              <a:buNone/>
            </a:pPr>
            <a:r>
              <a:rPr lang="en-US" sz="151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improvement?</a:t>
            </a:r>
            <a:endParaRPr lang="en-US" sz="1510" dirty="0"/>
          </a:p>
        </p:txBody>
      </p:sp>
      <p:sp>
        <p:nvSpPr>
          <p:cNvPr id="24" name="Shape 22"/>
          <p:cNvSpPr/>
          <p:nvPr/>
        </p:nvSpPr>
        <p:spPr>
          <a:xfrm>
            <a:off x="5403763" y="3730377"/>
            <a:ext cx="3190875" cy="9525"/>
          </a:xfrm>
          <a:prstGeom prst="rect">
            <a:avLst/>
          </a:prstGeom>
          <a:solidFill>
            <a:srgbClr val="C5D0C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580" y="4746427"/>
            <a:ext cx="1643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037856" y="4741664"/>
            <a:ext cx="2775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43" kern="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RETENTION ANALYSIS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8397925" y="4746427"/>
            <a:ext cx="3137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221F"/>
          </a:solidFill>
          <a:ln/>
        </p:spPr>
      </p:sp>
      <p:sp>
        <p:nvSpPr>
          <p:cNvPr id="3" name="Shape 1"/>
          <p:cNvSpPr/>
          <p:nvPr/>
        </p:nvSpPr>
        <p:spPr>
          <a:xfrm>
            <a:off x="-967" y="0"/>
            <a:ext cx="1647825" cy="5143500"/>
          </a:xfrm>
          <a:prstGeom prst="rect">
            <a:avLst/>
          </a:prstGeom>
          <a:solidFill>
            <a:srgbClr val="0E5663"/>
          </a:solidFill>
          <a:ln/>
        </p:spPr>
      </p:sp>
      <p:sp>
        <p:nvSpPr>
          <p:cNvPr id="4" name="Shape 2"/>
          <p:cNvSpPr/>
          <p:nvPr/>
        </p:nvSpPr>
        <p:spPr>
          <a:xfrm>
            <a:off x="547501" y="495188"/>
            <a:ext cx="38100" cy="38100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5" name="Text 3"/>
          <p:cNvSpPr/>
          <p:nvPr/>
        </p:nvSpPr>
        <p:spPr>
          <a:xfrm>
            <a:off x="675903" y="425723"/>
            <a:ext cx="16388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B7C8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METHODOLOGY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677838"/>
            <a:ext cx="7150194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40" b="1" spc="-194" kern="0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full BI lifecycle translated raw</a:t>
            </a:r>
            <a:endParaRPr lang="en-US" sz="3240" dirty="0"/>
          </a:p>
        </p:txBody>
      </p:sp>
      <p:sp>
        <p:nvSpPr>
          <p:cNvPr id="7" name="Text 5"/>
          <p:cNvSpPr/>
          <p:nvPr/>
        </p:nvSpPr>
        <p:spPr>
          <a:xfrm>
            <a:off x="548580" y="1097533"/>
            <a:ext cx="7700635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40" b="1" spc="-194" kern="0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orders into an executive decision.</a:t>
            </a:r>
            <a:endParaRPr lang="en-US" sz="3240" dirty="0"/>
          </a:p>
        </p:txBody>
      </p:sp>
      <p:sp>
        <p:nvSpPr>
          <p:cNvPr id="8" name="Shape 6"/>
          <p:cNvSpPr/>
          <p:nvPr/>
        </p:nvSpPr>
        <p:spPr>
          <a:xfrm>
            <a:off x="547650" y="2084077"/>
            <a:ext cx="1876425" cy="1476375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548580" y="2250653"/>
            <a:ext cx="419919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020" dirty="0"/>
          </a:p>
        </p:txBody>
      </p:sp>
      <p:sp>
        <p:nvSpPr>
          <p:cNvPr id="10" name="Text 8"/>
          <p:cNvSpPr/>
          <p:nvPr/>
        </p:nvSpPr>
        <p:spPr>
          <a:xfrm>
            <a:off x="548580" y="2689920"/>
            <a:ext cx="237161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580" dirty="0">
                <a:solidFill>
                  <a:srgbClr val="F3EF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assignment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548580" y="3010810"/>
            <a:ext cx="2044445" cy="556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5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identifies each</a:t>
            </a:r>
            <a:endParaRPr lang="en-US" sz="115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15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customer's acquisition</a:t>
            </a:r>
            <a:endParaRPr lang="en-US" sz="115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15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05050" y="2084077"/>
            <a:ext cx="1876425" cy="1476375"/>
          </a:xfrm>
          <a:prstGeom prst="rect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2605980" y="2250653"/>
            <a:ext cx="47051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020" dirty="0"/>
          </a:p>
        </p:txBody>
      </p:sp>
      <p:sp>
        <p:nvSpPr>
          <p:cNvPr id="14" name="Text 12"/>
          <p:cNvSpPr/>
          <p:nvPr/>
        </p:nvSpPr>
        <p:spPr>
          <a:xfrm>
            <a:off x="2605980" y="2689920"/>
            <a:ext cx="204947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580" dirty="0">
                <a:solidFill>
                  <a:srgbClr val="F3EF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Retention matrix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2605980" y="3010810"/>
            <a:ext cx="2451132" cy="556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5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behavior</a:t>
            </a:r>
            <a:endParaRPr lang="en-US" sz="115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15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indexed by months since</a:t>
            </a:r>
            <a:endParaRPr lang="en-US" sz="115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15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acquisition.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2450" y="2084077"/>
            <a:ext cx="1876425" cy="1476375"/>
          </a:xfrm>
          <a:prstGeom prst="rect">
            <a:avLst/>
          </a:prstGeom>
          <a:ln/>
        </p:spPr>
      </p:sp>
      <p:sp>
        <p:nvSpPr>
          <p:cNvPr id="17" name="Text 15"/>
          <p:cNvSpPr/>
          <p:nvPr/>
        </p:nvSpPr>
        <p:spPr>
          <a:xfrm>
            <a:off x="4663380" y="2250653"/>
            <a:ext cx="474189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020" dirty="0"/>
          </a:p>
        </p:txBody>
      </p:sp>
      <p:sp>
        <p:nvSpPr>
          <p:cNvPr id="18" name="Text 16"/>
          <p:cNvSpPr/>
          <p:nvPr/>
        </p:nvSpPr>
        <p:spPr>
          <a:xfrm>
            <a:off x="4663380" y="2689920"/>
            <a:ext cx="235013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580" dirty="0">
                <a:solidFill>
                  <a:srgbClr val="F3EF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EDA &amp; visualization</a:t>
            </a:r>
            <a:endParaRPr lang="en-US" sz="1580" dirty="0"/>
          </a:p>
        </p:txBody>
      </p:sp>
      <p:sp>
        <p:nvSpPr>
          <p:cNvPr id="19" name="Text 17"/>
          <p:cNvSpPr/>
          <p:nvPr/>
        </p:nvSpPr>
        <p:spPr>
          <a:xfrm>
            <a:off x="4663380" y="3010810"/>
            <a:ext cx="2281066" cy="3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5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surfaces patterns</a:t>
            </a:r>
            <a:endParaRPr lang="en-US" sz="115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15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across cohorts and time.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19888" y="2084077"/>
            <a:ext cx="1876425" cy="1476375"/>
          </a:xfrm>
          <a:prstGeom prst="rect">
            <a:avLst/>
          </a:prstGeom>
          <a:ln/>
        </p:spPr>
      </p:sp>
      <p:sp>
        <p:nvSpPr>
          <p:cNvPr id="21" name="Text 19"/>
          <p:cNvSpPr/>
          <p:nvPr/>
        </p:nvSpPr>
        <p:spPr>
          <a:xfrm>
            <a:off x="6720780" y="2250653"/>
            <a:ext cx="48279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020" dirty="0"/>
          </a:p>
        </p:txBody>
      </p:sp>
      <p:sp>
        <p:nvSpPr>
          <p:cNvPr id="22" name="Text 20"/>
          <p:cNvSpPr/>
          <p:nvPr/>
        </p:nvSpPr>
        <p:spPr>
          <a:xfrm>
            <a:off x="6720780" y="2689920"/>
            <a:ext cx="207869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580" dirty="0">
                <a:solidFill>
                  <a:srgbClr val="F3EF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Insight synthesis</a:t>
            </a:r>
            <a:endParaRPr lang="en-US" sz="1580" dirty="0"/>
          </a:p>
        </p:txBody>
      </p:sp>
      <p:sp>
        <p:nvSpPr>
          <p:cNvPr id="23" name="Text 21"/>
          <p:cNvSpPr/>
          <p:nvPr/>
        </p:nvSpPr>
        <p:spPr>
          <a:xfrm>
            <a:off x="6720780" y="3010810"/>
            <a:ext cx="2459258" cy="556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15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 evidence</a:t>
            </a:r>
            <a:endParaRPr lang="en-US" sz="115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15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becomes a focused growth</a:t>
            </a:r>
            <a:endParaRPr lang="en-US" sz="1150" dirty="0"/>
          </a:p>
          <a:p>
            <a:pPr algn="l" indent="0" marL="0">
              <a:lnSpc>
                <a:spcPts val="1440"/>
              </a:lnSpc>
              <a:buNone/>
            </a:pPr>
            <a:r>
              <a:rPr lang="en-US" sz="115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agenda.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580" y="4037707"/>
            <a:ext cx="59655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645"/>
              </a:spcBef>
              <a:buNone/>
            </a:pPr>
            <a:r>
              <a:rPr lang="en-US" sz="1220" spc="98" kern="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+ PYTHON + DASHBOARD + EXECUTIVE REPORTING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548580" y="4746427"/>
            <a:ext cx="1643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B7C8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040163" y="4741664"/>
            <a:ext cx="2775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43" kern="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RETENTION ANALYSIS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8402538" y="4746427"/>
            <a:ext cx="30789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B7C8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08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50" y="2084077"/>
            <a:ext cx="1876425" cy="1476375"/>
          </a:xfrm>
          <a:prstGeom prst="rect">
            <a:avLst/>
          </a:prstGeom>
        </p:spPr>
      </p:pic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5050" y="2084077"/>
            <a:ext cx="1876425" cy="1476375"/>
          </a:xfrm>
          <a:prstGeom prst="rect">
            <a:avLst/>
          </a:prstGeom>
        </p:spPr>
      </p:pic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2450" y="2084077"/>
            <a:ext cx="1876425" cy="1476375"/>
          </a:xfrm>
          <a:prstGeom prst="rect">
            <a:avLst/>
          </a:prstGeom>
        </p:spPr>
      </p:pic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19888" y="2084077"/>
            <a:ext cx="1876425" cy="1476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3" name="Shape 1"/>
          <p:cNvSpPr/>
          <p:nvPr/>
        </p:nvSpPr>
        <p:spPr>
          <a:xfrm>
            <a:off x="547501" y="443768"/>
            <a:ext cx="38100" cy="38100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4" name="Text 2"/>
          <p:cNvSpPr/>
          <p:nvPr/>
        </p:nvSpPr>
        <p:spPr>
          <a:xfrm>
            <a:off x="675903" y="374303"/>
            <a:ext cx="32389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COHORT RETENTION HEATMAP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631180"/>
            <a:ext cx="8942948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20" b="1" spc="-181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Beyond the acquisition month, the matrix</a:t>
            </a:r>
            <a:endParaRPr lang="en-US" sz="3020" dirty="0"/>
          </a:p>
        </p:txBody>
      </p:sp>
      <p:sp>
        <p:nvSpPr>
          <p:cNvPr id="6" name="Text 4"/>
          <p:cNvSpPr/>
          <p:nvPr/>
        </p:nvSpPr>
        <p:spPr>
          <a:xfrm>
            <a:off x="548580" y="1026691"/>
            <a:ext cx="5916781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20" b="1" spc="-181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almost entirely near-zero.</a:t>
            </a:r>
            <a:endParaRPr lang="en-US" sz="3020" dirty="0"/>
          </a:p>
        </p:txBody>
      </p:sp>
      <p:sp>
        <p:nvSpPr>
          <p:cNvPr id="7" name="Shape 5"/>
          <p:cNvSpPr/>
          <p:nvPr/>
        </p:nvSpPr>
        <p:spPr>
          <a:xfrm>
            <a:off x="547762" y="1676400"/>
            <a:ext cx="5186363" cy="2762250"/>
          </a:xfrm>
          <a:prstGeom prst="rect">
            <a:avLst/>
          </a:prstGeom>
          <a:solidFill>
            <a:srgbClr val="F8F5EF"/>
          </a:solidFill>
          <a:ln w="4763">
            <a:solidFill>
              <a:srgbClr val="C5D0C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393" y="1771650"/>
            <a:ext cx="4991100" cy="25717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99460" y="2300288"/>
            <a:ext cx="2495550" cy="1514475"/>
          </a:xfrm>
          <a:prstGeom prst="rect">
            <a:avLst/>
          </a:prstGeom>
          <a:ln/>
        </p:spPr>
      </p:sp>
      <p:sp>
        <p:nvSpPr>
          <p:cNvPr id="10" name="Text 7"/>
          <p:cNvSpPr/>
          <p:nvPr/>
        </p:nvSpPr>
        <p:spPr>
          <a:xfrm>
            <a:off x="6305699" y="2213818"/>
            <a:ext cx="1437895" cy="757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80" b="1" spc="-374" kern="0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~0%</a:t>
            </a:r>
            <a:endParaRPr lang="en-US" sz="4680" dirty="0"/>
          </a:p>
        </p:txBody>
      </p:sp>
      <p:sp>
        <p:nvSpPr>
          <p:cNvPr id="11" name="Text 8"/>
          <p:cNvSpPr/>
          <p:nvPr/>
        </p:nvSpPr>
        <p:spPr>
          <a:xfrm>
            <a:off x="6305699" y="2936528"/>
            <a:ext cx="282986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51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visual signal is not a</a:t>
            </a:r>
            <a:endParaRPr lang="en-US" sz="1510" dirty="0"/>
          </a:p>
        </p:txBody>
      </p:sp>
      <p:sp>
        <p:nvSpPr>
          <p:cNvPr id="12" name="Text 9"/>
          <p:cNvSpPr/>
          <p:nvPr/>
        </p:nvSpPr>
        <p:spPr>
          <a:xfrm>
            <a:off x="6305699" y="3151510"/>
            <a:ext cx="293617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51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gradual fade. It is a near-total</a:t>
            </a:r>
            <a:endParaRPr lang="en-US" sz="1510" dirty="0"/>
          </a:p>
        </p:txBody>
      </p:sp>
      <p:sp>
        <p:nvSpPr>
          <p:cNvPr id="13" name="Text 10"/>
          <p:cNvSpPr/>
          <p:nvPr/>
        </p:nvSpPr>
        <p:spPr>
          <a:xfrm>
            <a:off x="6761857" y="3366492"/>
            <a:ext cx="216720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51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absence of repeat</a:t>
            </a:r>
            <a:endParaRPr lang="en-US" sz="1510" dirty="0"/>
          </a:p>
        </p:txBody>
      </p:sp>
      <p:sp>
        <p:nvSpPr>
          <p:cNvPr id="14" name="Text 11"/>
          <p:cNvSpPr/>
          <p:nvPr/>
        </p:nvSpPr>
        <p:spPr>
          <a:xfrm>
            <a:off x="6305699" y="3581474"/>
            <a:ext cx="85814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51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orders.</a:t>
            </a:r>
            <a:endParaRPr lang="en-US" sz="1510" dirty="0"/>
          </a:p>
        </p:txBody>
      </p:sp>
      <p:sp>
        <p:nvSpPr>
          <p:cNvPr id="15" name="Text 12"/>
          <p:cNvSpPr/>
          <p:nvPr/>
        </p:nvSpPr>
        <p:spPr>
          <a:xfrm>
            <a:off x="548580" y="4746427"/>
            <a:ext cx="1643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4038972" y="4741664"/>
            <a:ext cx="2775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43" kern="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RETENTION ANALYSIS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8400157" y="4746427"/>
            <a:ext cx="31089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08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460" y="2300288"/>
            <a:ext cx="2495550" cy="1514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DDD1"/>
          </a:solidFill>
          <a:ln/>
        </p:spPr>
      </p:sp>
      <p:sp>
        <p:nvSpPr>
          <p:cNvPr id="3" name="Shape 1"/>
          <p:cNvSpPr/>
          <p:nvPr/>
        </p:nvSpPr>
        <p:spPr>
          <a:xfrm>
            <a:off x="547501" y="443768"/>
            <a:ext cx="38100" cy="38100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4" name="Text 2"/>
          <p:cNvSpPr/>
          <p:nvPr/>
        </p:nvSpPr>
        <p:spPr>
          <a:xfrm>
            <a:off x="675903" y="374303"/>
            <a:ext cx="20099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RETENTION CURVE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631180"/>
            <a:ext cx="8502015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86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intervention window is short: most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48580" y="1036141"/>
            <a:ext cx="8751987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86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repeat behavior happens in months 1–2.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547762" y="1695301"/>
            <a:ext cx="5186363" cy="2762250"/>
          </a:xfrm>
          <a:prstGeom prst="rect">
            <a:avLst/>
          </a:prstGeom>
          <a:solidFill>
            <a:srgbClr val="F8F5EF"/>
          </a:solidFill>
          <a:ln w="4763">
            <a:solidFill>
              <a:srgbClr val="C5D0C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393" y="1790551"/>
            <a:ext cx="4991100" cy="2571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99051" y="1853505"/>
            <a:ext cx="2733705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0.33–0.36%</a:t>
            </a:r>
            <a:endParaRPr lang="en-US" sz="2880" dirty="0"/>
          </a:p>
        </p:txBody>
      </p:sp>
      <p:sp>
        <p:nvSpPr>
          <p:cNvPr id="10" name="Text 7"/>
          <p:cNvSpPr/>
          <p:nvPr/>
        </p:nvSpPr>
        <p:spPr>
          <a:xfrm>
            <a:off x="6099051" y="2349698"/>
            <a:ext cx="215056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Months 1–2 retention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99051" y="2745581"/>
            <a:ext cx="2737091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0.20–0.32%</a:t>
            </a:r>
            <a:endParaRPr lang="en-US" sz="2880" dirty="0"/>
          </a:p>
        </p:txBody>
      </p:sp>
      <p:sp>
        <p:nvSpPr>
          <p:cNvPr id="12" name="Text 9"/>
          <p:cNvSpPr/>
          <p:nvPr/>
        </p:nvSpPr>
        <p:spPr>
          <a:xfrm>
            <a:off x="6099051" y="3241774"/>
            <a:ext cx="20870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Months 3–8 long tail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99051" y="3637657"/>
            <a:ext cx="162431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~0.15%</a:t>
            </a:r>
            <a:endParaRPr lang="en-US" sz="2880" dirty="0"/>
          </a:p>
        </p:txBody>
      </p:sp>
      <p:sp>
        <p:nvSpPr>
          <p:cNvPr id="14" name="Text 11"/>
          <p:cNvSpPr/>
          <p:nvPr/>
        </p:nvSpPr>
        <p:spPr>
          <a:xfrm>
            <a:off x="6099051" y="4133850"/>
            <a:ext cx="185425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 13+ plateau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580" y="4746427"/>
            <a:ext cx="1643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4044479" y="4741664"/>
            <a:ext cx="2775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43" kern="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RETENTION ANALYSIS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8411170" y="4746427"/>
            <a:ext cx="2965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3" name="Shape 1"/>
          <p:cNvSpPr/>
          <p:nvPr/>
        </p:nvSpPr>
        <p:spPr>
          <a:xfrm>
            <a:off x="8962095" y="0"/>
            <a:ext cx="180975" cy="5143500"/>
          </a:xfrm>
          <a:prstGeom prst="rect">
            <a:avLst/>
          </a:prstGeom>
          <a:solidFill>
            <a:srgbClr val="E46B52"/>
          </a:solidFill>
          <a:ln/>
        </p:spPr>
      </p:sp>
      <p:sp>
        <p:nvSpPr>
          <p:cNvPr id="4" name="Shape 2"/>
          <p:cNvSpPr/>
          <p:nvPr/>
        </p:nvSpPr>
        <p:spPr>
          <a:xfrm>
            <a:off x="547501" y="443768"/>
            <a:ext cx="38100" cy="38100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5" name="Text 3"/>
          <p:cNvSpPr/>
          <p:nvPr/>
        </p:nvSpPr>
        <p:spPr>
          <a:xfrm>
            <a:off x="675903" y="374303"/>
            <a:ext cx="35621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COHORT GROWTH VS. RETENTION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631180"/>
            <a:ext cx="7489165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86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Acquisition scaled roughly 8×, but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48580" y="1036141"/>
            <a:ext cx="8211703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00" b="1" spc="-186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retention did not improve organically.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547762" y="1718295"/>
            <a:ext cx="5186363" cy="2762250"/>
          </a:xfrm>
          <a:prstGeom prst="rect">
            <a:avLst/>
          </a:prstGeom>
          <a:solidFill>
            <a:srgbClr val="F8F5EF"/>
          </a:solidFill>
          <a:ln w="4763">
            <a:solidFill>
              <a:srgbClr val="C5D0C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393" y="1813545"/>
            <a:ext cx="4991100" cy="25717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099460" y="1694520"/>
            <a:ext cx="2495550" cy="2809875"/>
          </a:xfrm>
          <a:prstGeom prst="rect">
            <a:avLst/>
          </a:prstGeom>
          <a:ln/>
        </p:spPr>
      </p:sp>
      <p:sp>
        <p:nvSpPr>
          <p:cNvPr id="11" name="Text 8"/>
          <p:cNvSpPr/>
          <p:nvPr/>
        </p:nvSpPr>
        <p:spPr>
          <a:xfrm>
            <a:off x="6305699" y="1603921"/>
            <a:ext cx="2369969" cy="8143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40" b="1" spc="-504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43,468</a:t>
            </a:r>
            <a:endParaRPr lang="en-US" sz="5040" dirty="0"/>
          </a:p>
        </p:txBody>
      </p:sp>
      <p:sp>
        <p:nvSpPr>
          <p:cNvPr id="12" name="Text 9"/>
          <p:cNvSpPr/>
          <p:nvPr/>
        </p:nvSpPr>
        <p:spPr>
          <a:xfrm>
            <a:off x="6305699" y="2348805"/>
            <a:ext cx="25504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2017 customers acquired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6629" y="2710383"/>
            <a:ext cx="638175" cy="9525"/>
          </a:xfrm>
          <a:prstGeom prst="rect">
            <a:avLst/>
          </a:prstGeom>
          <a:solidFill>
            <a:srgbClr val="E46B52"/>
          </a:solidFill>
          <a:ln/>
        </p:spPr>
      </p:sp>
      <p:sp>
        <p:nvSpPr>
          <p:cNvPr id="14" name="Text 11"/>
          <p:cNvSpPr/>
          <p:nvPr/>
        </p:nvSpPr>
        <p:spPr>
          <a:xfrm>
            <a:off x="6305699" y="2758380"/>
            <a:ext cx="2091363" cy="8143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040" b="1" spc="-504" kern="0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51,792</a:t>
            </a:r>
            <a:endParaRPr lang="en-US" sz="5040" dirty="0"/>
          </a:p>
        </p:txBody>
      </p:sp>
      <p:sp>
        <p:nvSpPr>
          <p:cNvPr id="15" name="Text 12"/>
          <p:cNvSpPr/>
          <p:nvPr/>
        </p:nvSpPr>
        <p:spPr>
          <a:xfrm>
            <a:off x="6305699" y="3503265"/>
            <a:ext cx="256634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2018 customers acquired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5699" y="3871094"/>
            <a:ext cx="278033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44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new customers did</a:t>
            </a:r>
            <a:endParaRPr lang="en-US" sz="1440" dirty="0"/>
          </a:p>
        </p:txBody>
      </p:sp>
      <p:sp>
        <p:nvSpPr>
          <p:cNvPr id="17" name="Text 14"/>
          <p:cNvSpPr/>
          <p:nvPr/>
        </p:nvSpPr>
        <p:spPr>
          <a:xfrm>
            <a:off x="6305699" y="4075881"/>
            <a:ext cx="25780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44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translate into more</a:t>
            </a:r>
            <a:endParaRPr lang="en-US" sz="1440" dirty="0"/>
          </a:p>
        </p:txBody>
      </p:sp>
      <p:sp>
        <p:nvSpPr>
          <p:cNvPr id="18" name="Text 15"/>
          <p:cNvSpPr/>
          <p:nvPr/>
        </p:nvSpPr>
        <p:spPr>
          <a:xfrm>
            <a:off x="6305699" y="4280669"/>
            <a:ext cx="205992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44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customers.</a:t>
            </a:r>
            <a:endParaRPr lang="en-US" sz="1440" dirty="0"/>
          </a:p>
        </p:txBody>
      </p:sp>
      <p:sp>
        <p:nvSpPr>
          <p:cNvPr id="19" name="Text 16"/>
          <p:cNvSpPr/>
          <p:nvPr/>
        </p:nvSpPr>
        <p:spPr>
          <a:xfrm>
            <a:off x="548580" y="4746427"/>
            <a:ext cx="1643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4039716" y="4741664"/>
            <a:ext cx="2775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43" kern="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RETENTION ANALYSIS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8401645" y="4746427"/>
            <a:ext cx="30896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</a:t>
            </a:r>
            <a:endParaRPr lang="en-US" sz="108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460" y="1694520"/>
            <a:ext cx="2495550" cy="2809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221F"/>
          </a:solidFill>
          <a:ln/>
        </p:spPr>
      </p:sp>
      <p:sp>
        <p:nvSpPr>
          <p:cNvPr id="3" name="Shape 1"/>
          <p:cNvSpPr/>
          <p:nvPr/>
        </p:nvSpPr>
        <p:spPr>
          <a:xfrm>
            <a:off x="6948971" y="0"/>
            <a:ext cx="2195513" cy="5143500"/>
          </a:xfrm>
          <a:prstGeom prst="rect">
            <a:avLst/>
          </a:prstGeom>
          <a:solidFill>
            <a:srgbClr val="0E5663"/>
          </a:solidFill>
          <a:ln/>
        </p:spPr>
      </p:sp>
      <p:sp>
        <p:nvSpPr>
          <p:cNvPr id="4" name="Shape 2"/>
          <p:cNvSpPr/>
          <p:nvPr/>
        </p:nvSpPr>
        <p:spPr>
          <a:xfrm>
            <a:off x="547501" y="495188"/>
            <a:ext cx="38100" cy="38100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5" name="Text 3"/>
          <p:cNvSpPr/>
          <p:nvPr/>
        </p:nvSpPr>
        <p:spPr>
          <a:xfrm>
            <a:off x="675903" y="425723"/>
            <a:ext cx="157129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B7C8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INSIGHT 1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673075"/>
            <a:ext cx="7619181" cy="538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10" b="1" spc="-232" kern="0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Repeat purchasing is structurally</a:t>
            </a:r>
            <a:endParaRPr lang="en-US" sz="3310" dirty="0"/>
          </a:p>
        </p:txBody>
      </p:sp>
      <p:sp>
        <p:nvSpPr>
          <p:cNvPr id="7" name="Text 5"/>
          <p:cNvSpPr/>
          <p:nvPr/>
        </p:nvSpPr>
        <p:spPr>
          <a:xfrm>
            <a:off x="548580" y="1102072"/>
            <a:ext cx="4361617" cy="538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10" b="1" spc="-232" kern="0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rare, not just “low.”</a:t>
            </a:r>
            <a:endParaRPr lang="en-US" sz="3310" dirty="0"/>
          </a:p>
        </p:txBody>
      </p:sp>
      <p:sp>
        <p:nvSpPr>
          <p:cNvPr id="8" name="Shape 6"/>
          <p:cNvSpPr/>
          <p:nvPr/>
        </p:nvSpPr>
        <p:spPr>
          <a:xfrm>
            <a:off x="548618" y="2153022"/>
            <a:ext cx="3657600" cy="1457325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548580" y="2189187"/>
            <a:ext cx="2896419" cy="116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spc="-720" kern="0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0.65%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48580" y="3349303"/>
            <a:ext cx="346514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cohort result: August 2017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4937782" y="2153022"/>
            <a:ext cx="3657600" cy="1457325"/>
          </a:xfrm>
          <a:prstGeom prst="rect">
            <a:avLst/>
          </a:prstGeom>
          <a:ln/>
        </p:spPr>
      </p:sp>
      <p:sp>
        <p:nvSpPr>
          <p:cNvPr id="12" name="Text 10"/>
          <p:cNvSpPr/>
          <p:nvPr/>
        </p:nvSpPr>
        <p:spPr>
          <a:xfrm>
            <a:off x="4937745" y="2189187"/>
            <a:ext cx="3561881" cy="116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spc="-720" kern="0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0.099%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4937745" y="3349303"/>
            <a:ext cx="332419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44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Worst cohort result: July 2018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548580" y="3997003"/>
            <a:ext cx="6746989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0"/>
              </a:spcBef>
              <a:buNone/>
            </a:pPr>
            <a:r>
              <a:rPr lang="en-US" sz="1800" dirty="0">
                <a:solidFill>
                  <a:srgbClr val="D4DF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 the best-performing cohort never converts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580" y="4252987"/>
            <a:ext cx="706535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0"/>
              </a:spcBef>
              <a:buNone/>
            </a:pPr>
            <a:r>
              <a:rPr lang="en-US" sz="1800" dirty="0">
                <a:solidFill>
                  <a:srgbClr val="D4DF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purchasing into a meaningful base behavior.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580" y="4746427"/>
            <a:ext cx="1643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B7C8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038972" y="4741664"/>
            <a:ext cx="2775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43" kern="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RETENTION ANALYSIS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8400157" y="4746427"/>
            <a:ext cx="31089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B7C8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</a:t>
            </a:r>
            <a:endParaRPr lang="en-US" sz="108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18" y="2153022"/>
            <a:ext cx="3657600" cy="1457325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7782" y="2153022"/>
            <a:ext cx="3657600" cy="1457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DDD1"/>
          </a:solidFill>
          <a:ln/>
        </p:spPr>
      </p:sp>
      <p:sp>
        <p:nvSpPr>
          <p:cNvPr id="3" name="Shape 1"/>
          <p:cNvSpPr/>
          <p:nvPr/>
        </p:nvSpPr>
        <p:spPr>
          <a:xfrm>
            <a:off x="-967" y="-967"/>
            <a:ext cx="3476625" cy="104775"/>
          </a:xfrm>
          <a:prstGeom prst="rect">
            <a:avLst/>
          </a:prstGeom>
          <a:solidFill>
            <a:srgbClr val="E46B52"/>
          </a:solidFill>
          <a:ln/>
        </p:spPr>
      </p:sp>
      <p:sp>
        <p:nvSpPr>
          <p:cNvPr id="4" name="Shape 2"/>
          <p:cNvSpPr/>
          <p:nvPr/>
        </p:nvSpPr>
        <p:spPr>
          <a:xfrm>
            <a:off x="547501" y="495188"/>
            <a:ext cx="38100" cy="38100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5" name="Text 3"/>
          <p:cNvSpPr/>
          <p:nvPr/>
        </p:nvSpPr>
        <p:spPr>
          <a:xfrm>
            <a:off x="675903" y="425723"/>
            <a:ext cx="15983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INSIGHT 2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673075"/>
            <a:ext cx="6616973" cy="538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10" b="1" spc="-232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Retention is not improving or</a:t>
            </a:r>
            <a:endParaRPr lang="en-US" sz="3310" dirty="0"/>
          </a:p>
        </p:txBody>
      </p:sp>
      <p:sp>
        <p:nvSpPr>
          <p:cNvPr id="7" name="Text 5"/>
          <p:cNvSpPr/>
          <p:nvPr/>
        </p:nvSpPr>
        <p:spPr>
          <a:xfrm>
            <a:off x="548580" y="1102072"/>
            <a:ext cx="4790554" cy="538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10" b="1" spc="-232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worsening over time.</a:t>
            </a:r>
            <a:endParaRPr lang="en-US" sz="3310" dirty="0"/>
          </a:p>
        </p:txBody>
      </p:sp>
      <p:sp>
        <p:nvSpPr>
          <p:cNvPr id="8" name="Text 6"/>
          <p:cNvSpPr/>
          <p:nvPr/>
        </p:nvSpPr>
        <p:spPr>
          <a:xfrm>
            <a:off x="548580" y="1756767"/>
            <a:ext cx="1613185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920" b="1" spc="-950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flat</a:t>
            </a:r>
            <a:endParaRPr lang="en-US" sz="7920" dirty="0"/>
          </a:p>
        </p:txBody>
      </p:sp>
      <p:sp>
        <p:nvSpPr>
          <p:cNvPr id="9" name="Shape 7"/>
          <p:cNvSpPr/>
          <p:nvPr/>
        </p:nvSpPr>
        <p:spPr>
          <a:xfrm>
            <a:off x="3780086" y="2045047"/>
            <a:ext cx="42863" cy="42863"/>
          </a:xfrm>
          <a:prstGeom prst="ellipse">
            <a:avLst/>
          </a:prstGeom>
          <a:solidFill>
            <a:srgbClr val="0E5663"/>
          </a:solidFill>
          <a:ln/>
        </p:spPr>
      </p:sp>
      <p:sp>
        <p:nvSpPr>
          <p:cNvPr id="10" name="Text 8"/>
          <p:cNvSpPr/>
          <p:nvPr/>
        </p:nvSpPr>
        <p:spPr>
          <a:xfrm>
            <a:off x="3931741" y="1999464"/>
            <a:ext cx="5592708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cohort shows a credible step-change in repeat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behavior.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3780086" y="2656508"/>
            <a:ext cx="42863" cy="42863"/>
          </a:xfrm>
          <a:prstGeom prst="ellipse">
            <a:avLst/>
          </a:prstGeom>
          <a:solidFill>
            <a:srgbClr val="0E5663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741" y="2610925"/>
            <a:ext cx="5974340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Growth in customer volume did not create a retention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flywheel.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3780086" y="3267968"/>
            <a:ext cx="42863" cy="42863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741" y="3222385"/>
            <a:ext cx="5750972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Retention needs deliberate intervention — not more</a:t>
            </a:r>
            <a:endParaRPr lang="en-US" sz="144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44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time.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548580" y="4256931"/>
            <a:ext cx="7657200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645"/>
              </a:spcBef>
              <a:buNone/>
            </a:pPr>
            <a:r>
              <a:rPr lang="en-US" sz="187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Scaling acquisition before fixing the repeat-purchase</a:t>
            </a:r>
            <a:endParaRPr lang="en-US" sz="1870" dirty="0"/>
          </a:p>
        </p:txBody>
      </p:sp>
      <p:sp>
        <p:nvSpPr>
          <p:cNvPr id="16" name="Text 14"/>
          <p:cNvSpPr/>
          <p:nvPr/>
        </p:nvSpPr>
        <p:spPr>
          <a:xfrm>
            <a:off x="548580" y="4523184"/>
            <a:ext cx="6419433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645"/>
              </a:spcBef>
              <a:buNone/>
            </a:pPr>
            <a:r>
              <a:rPr lang="en-US" sz="187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experience compounds an inefficient model.</a:t>
            </a:r>
            <a:endParaRPr lang="en-US" sz="1870" dirty="0"/>
          </a:p>
        </p:txBody>
      </p:sp>
      <p:sp>
        <p:nvSpPr>
          <p:cNvPr id="17" name="Text 15"/>
          <p:cNvSpPr/>
          <p:nvPr/>
        </p:nvSpPr>
        <p:spPr>
          <a:xfrm>
            <a:off x="548580" y="4746427"/>
            <a:ext cx="1643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050878" y="4741664"/>
            <a:ext cx="2775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43" kern="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RETENTION ANALYSIS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8423970" y="4746427"/>
            <a:ext cx="2800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108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027" y="4142184"/>
            <a:ext cx="6034088" cy="6715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3" name="Shape 1"/>
          <p:cNvSpPr/>
          <p:nvPr/>
        </p:nvSpPr>
        <p:spPr>
          <a:xfrm>
            <a:off x="547501" y="495188"/>
            <a:ext cx="38100" cy="38100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4" name="Text 2"/>
          <p:cNvSpPr/>
          <p:nvPr/>
        </p:nvSpPr>
        <p:spPr>
          <a:xfrm>
            <a:off x="675903" y="425723"/>
            <a:ext cx="160041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INSIGHT 3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677838"/>
            <a:ext cx="8352264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40" b="1" spc="-227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first 60 days define the retention</a:t>
            </a:r>
            <a:endParaRPr lang="en-US" sz="3240" dirty="0"/>
          </a:p>
        </p:txBody>
      </p:sp>
      <p:sp>
        <p:nvSpPr>
          <p:cNvPr id="6" name="Text 4"/>
          <p:cNvSpPr/>
          <p:nvPr/>
        </p:nvSpPr>
        <p:spPr>
          <a:xfrm>
            <a:off x="548580" y="1097533"/>
            <a:ext cx="292515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40" b="1" spc="-227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opportunity.</a:t>
            </a:r>
            <a:endParaRPr lang="en-US" sz="3240" dirty="0"/>
          </a:p>
        </p:txBody>
      </p:sp>
      <p:sp>
        <p:nvSpPr>
          <p:cNvPr id="7" name="Shape 5"/>
          <p:cNvSpPr/>
          <p:nvPr/>
        </p:nvSpPr>
        <p:spPr>
          <a:xfrm>
            <a:off x="547464" y="2083482"/>
            <a:ext cx="2095500" cy="1338262"/>
          </a:xfrm>
          <a:prstGeom prst="rect">
            <a:avLst/>
          </a:prstGeom>
          <a:solidFill>
            <a:srgbClr val="E0EBE5"/>
          </a:solidFill>
          <a:ln w="9525">
            <a:solidFill>
              <a:srgbClr val="0E56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941" y="2295376"/>
            <a:ext cx="1317940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spc="144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ORDER 01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740941" y="2479253"/>
            <a:ext cx="1589775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60" b="1" spc="-317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Day 0</a:t>
            </a:r>
            <a:endParaRPr lang="en-US" sz="3960" dirty="0"/>
          </a:p>
        </p:txBody>
      </p:sp>
      <p:sp>
        <p:nvSpPr>
          <p:cNvPr id="10" name="Text 8"/>
          <p:cNvSpPr/>
          <p:nvPr/>
        </p:nvSpPr>
        <p:spPr>
          <a:xfrm>
            <a:off x="740941" y="3067869"/>
            <a:ext cx="110550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Acquisition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2824051" y="2745470"/>
            <a:ext cx="519112" cy="14288"/>
          </a:xfrm>
          <a:prstGeom prst="rect">
            <a:avLst/>
          </a:prstGeom>
          <a:solidFill>
            <a:srgbClr val="E46B52"/>
          </a:solidFill>
          <a:ln/>
        </p:spPr>
      </p:sp>
      <p:sp>
        <p:nvSpPr>
          <p:cNvPr id="12" name="Shape 10"/>
          <p:cNvSpPr/>
          <p:nvPr/>
        </p:nvSpPr>
        <p:spPr>
          <a:xfrm>
            <a:off x="3524250" y="2083482"/>
            <a:ext cx="2095500" cy="1338262"/>
          </a:xfrm>
          <a:prstGeom prst="rect">
            <a:avLst/>
          </a:prstGeom>
          <a:solidFill>
            <a:srgbClr val="F7E1D9"/>
          </a:solidFill>
          <a:ln w="9525">
            <a:solidFill>
              <a:srgbClr val="E46B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7727" y="2295376"/>
            <a:ext cx="11609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spc="144" kern="0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WINDOW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3717727" y="2479253"/>
            <a:ext cx="1669971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60" b="1" spc="-317" kern="0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15–45</a:t>
            </a:r>
            <a:endParaRPr lang="en-US" sz="3960" dirty="0"/>
          </a:p>
        </p:txBody>
      </p:sp>
      <p:sp>
        <p:nvSpPr>
          <p:cNvPr id="15" name="Text 13"/>
          <p:cNvSpPr/>
          <p:nvPr/>
        </p:nvSpPr>
        <p:spPr>
          <a:xfrm>
            <a:off x="3717727" y="3067869"/>
            <a:ext cx="1223717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Targeted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re-engagement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00837" y="2745470"/>
            <a:ext cx="519112" cy="14288"/>
          </a:xfrm>
          <a:prstGeom prst="rect">
            <a:avLst/>
          </a:prstGeom>
          <a:solidFill>
            <a:srgbClr val="E46B52"/>
          </a:solidFill>
          <a:ln/>
        </p:spPr>
      </p:sp>
      <p:sp>
        <p:nvSpPr>
          <p:cNvPr id="17" name="Shape 15"/>
          <p:cNvSpPr/>
          <p:nvPr/>
        </p:nvSpPr>
        <p:spPr>
          <a:xfrm>
            <a:off x="6501036" y="2083482"/>
            <a:ext cx="2095500" cy="1338262"/>
          </a:xfrm>
          <a:prstGeom prst="rect">
            <a:avLst/>
          </a:prstGeom>
          <a:solidFill>
            <a:srgbClr val="E0EBE5"/>
          </a:solidFill>
          <a:ln w="9525">
            <a:solidFill>
              <a:srgbClr val="0E56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4512" y="2295376"/>
            <a:ext cx="1277020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spc="144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DECISION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694512" y="2479253"/>
            <a:ext cx="1940838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60" b="1" spc="-317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Day 60</a:t>
            </a:r>
            <a:endParaRPr lang="en-US" sz="3960" dirty="0"/>
          </a:p>
        </p:txBody>
      </p:sp>
      <p:sp>
        <p:nvSpPr>
          <p:cNvPr id="20" name="Text 18"/>
          <p:cNvSpPr/>
          <p:nvPr/>
        </p:nvSpPr>
        <p:spPr>
          <a:xfrm>
            <a:off x="6694512" y="3067869"/>
            <a:ext cx="1833458" cy="4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 either</a:t>
            </a:r>
            <a:endParaRPr lang="en-US" sz="1220" dirty="0"/>
          </a:p>
          <a:p>
            <a:pPr algn="l" indent="0" marL="0">
              <a:lnSpc>
                <a:spcPts val="1836"/>
              </a:lnSpc>
              <a:buNone/>
            </a:pPr>
            <a:r>
              <a:rPr lang="en-US" sz="122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restarts — or fades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48580" y="3808884"/>
            <a:ext cx="810722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0"/>
              </a:spcBef>
              <a:buNone/>
            </a:pPr>
            <a:r>
              <a:rPr lang="en-US" sz="180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Whatever repeat purchases happen are front-loaded. That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580" y="4064868"/>
            <a:ext cx="744128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0"/>
              </a:spcBef>
              <a:buNone/>
            </a:pPr>
            <a:r>
              <a:rPr lang="en-US" sz="1800" dirty="0">
                <a:solidFill>
                  <a:srgbClr val="34423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makes the intervention window clear and measurable.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580" y="4746427"/>
            <a:ext cx="1643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4064719" y="4741664"/>
            <a:ext cx="2775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43" kern="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RETENTION ANALYSIS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8451652" y="4746427"/>
            <a:ext cx="2440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221F"/>
          </a:solidFill>
          <a:ln/>
        </p:spPr>
      </p:sp>
      <p:sp>
        <p:nvSpPr>
          <p:cNvPr id="3" name="Shape 1"/>
          <p:cNvSpPr/>
          <p:nvPr/>
        </p:nvSpPr>
        <p:spPr>
          <a:xfrm>
            <a:off x="4753942" y="4938266"/>
            <a:ext cx="4391025" cy="204787"/>
          </a:xfrm>
          <a:prstGeom prst="rect">
            <a:avLst/>
          </a:prstGeom>
          <a:solidFill>
            <a:srgbClr val="E46B52"/>
          </a:solidFill>
          <a:ln/>
        </p:spPr>
      </p:sp>
      <p:sp>
        <p:nvSpPr>
          <p:cNvPr id="4" name="Shape 2"/>
          <p:cNvSpPr/>
          <p:nvPr/>
        </p:nvSpPr>
        <p:spPr>
          <a:xfrm>
            <a:off x="547501" y="495188"/>
            <a:ext cx="38100" cy="38100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5" name="Text 3"/>
          <p:cNvSpPr/>
          <p:nvPr/>
        </p:nvSpPr>
        <p:spPr>
          <a:xfrm>
            <a:off x="675903" y="425723"/>
            <a:ext cx="19869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B7C8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IMPACT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677838"/>
            <a:ext cx="7383140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40" b="1" spc="-227" kern="0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small retention lift changes the</a:t>
            </a:r>
            <a:endParaRPr lang="en-US" sz="3240" dirty="0"/>
          </a:p>
        </p:txBody>
      </p:sp>
      <p:sp>
        <p:nvSpPr>
          <p:cNvPr id="7" name="Text 5"/>
          <p:cNvSpPr/>
          <p:nvPr/>
        </p:nvSpPr>
        <p:spPr>
          <a:xfrm>
            <a:off x="548580" y="1097533"/>
            <a:ext cx="7151645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40" b="1" spc="-227" kern="0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economics of the existing base.</a:t>
            </a:r>
            <a:endParaRPr lang="en-US" sz="3240" dirty="0"/>
          </a:p>
        </p:txBody>
      </p:sp>
      <p:sp>
        <p:nvSpPr>
          <p:cNvPr id="8" name="Text 6"/>
          <p:cNvSpPr/>
          <p:nvPr/>
        </p:nvSpPr>
        <p:spPr>
          <a:xfrm>
            <a:off x="548580" y="2455218"/>
            <a:ext cx="1597804" cy="1519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360" b="1" spc="-1123" kern="0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6×</a:t>
            </a:r>
            <a:endParaRPr lang="en-US" sz="9360" dirty="0"/>
          </a:p>
        </p:txBody>
      </p:sp>
      <p:sp>
        <p:nvSpPr>
          <p:cNvPr id="9" name="Text 7"/>
          <p:cNvSpPr/>
          <p:nvPr/>
        </p:nvSpPr>
        <p:spPr>
          <a:xfrm>
            <a:off x="548580" y="3889623"/>
            <a:ext cx="244136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58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repeat buyers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548580" y="4110856"/>
            <a:ext cx="182146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58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the same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548580" y="4332089"/>
            <a:ext cx="186954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58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base</a:t>
            </a:r>
            <a:endParaRPr lang="en-US" sz="1580" dirty="0"/>
          </a:p>
        </p:txBody>
      </p:sp>
      <p:sp>
        <p:nvSpPr>
          <p:cNvPr id="12" name="Shape 10"/>
          <p:cNvSpPr/>
          <p:nvPr/>
        </p:nvSpPr>
        <p:spPr>
          <a:xfrm>
            <a:off x="4571516" y="2082775"/>
            <a:ext cx="4024312" cy="2495550"/>
          </a:xfrm>
          <a:prstGeom prst="rect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4865266" y="2055391"/>
            <a:ext cx="4244176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70" dirty="0">
                <a:solidFill>
                  <a:srgbClr val="F3EFE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 month-1 retention from</a:t>
            </a:r>
            <a:endParaRPr lang="en-US" sz="1870" dirty="0"/>
          </a:p>
        </p:txBody>
      </p:sp>
      <p:sp>
        <p:nvSpPr>
          <p:cNvPr id="14" name="Text 12"/>
          <p:cNvSpPr/>
          <p:nvPr/>
        </p:nvSpPr>
        <p:spPr>
          <a:xfrm>
            <a:off x="4865266" y="2346350"/>
            <a:ext cx="1777447" cy="681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4180" b="1" spc="-334" kern="0" dirty="0">
                <a:solidFill>
                  <a:srgbClr val="B7C8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0.33%</a:t>
            </a:r>
            <a:endParaRPr lang="en-US" sz="4180" dirty="0"/>
          </a:p>
        </p:txBody>
      </p:sp>
      <p:sp>
        <p:nvSpPr>
          <p:cNvPr id="15" name="Text 13"/>
          <p:cNvSpPr/>
          <p:nvPr/>
        </p:nvSpPr>
        <p:spPr>
          <a:xfrm>
            <a:off x="4865266" y="3074789"/>
            <a:ext cx="34572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spcAft>
                <a:spcPts val="810"/>
              </a:spcAft>
              <a:buNone/>
            </a:pPr>
            <a:r>
              <a:rPr lang="en-US" sz="1800" dirty="0">
                <a:solidFill>
                  <a:srgbClr val="E46B5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65266" y="3425279"/>
            <a:ext cx="882521" cy="681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180" b="1" spc="-334" kern="0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2%</a:t>
            </a:r>
            <a:endParaRPr lang="en-US" sz="4180" dirty="0"/>
          </a:p>
        </p:txBody>
      </p:sp>
      <p:sp>
        <p:nvSpPr>
          <p:cNvPr id="17" name="Text 15"/>
          <p:cNvSpPr/>
          <p:nvPr/>
        </p:nvSpPr>
        <p:spPr>
          <a:xfrm>
            <a:off x="4865266" y="4110856"/>
            <a:ext cx="441743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58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a fraction of the cost of acquiring</a:t>
            </a:r>
            <a:endParaRPr lang="en-US" sz="1580" dirty="0"/>
          </a:p>
        </p:txBody>
      </p:sp>
      <p:sp>
        <p:nvSpPr>
          <p:cNvPr id="18" name="Text 16"/>
          <p:cNvSpPr/>
          <p:nvPr/>
        </p:nvSpPr>
        <p:spPr>
          <a:xfrm>
            <a:off x="4865266" y="4332089"/>
            <a:ext cx="226539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58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another customer.</a:t>
            </a:r>
            <a:endParaRPr lang="en-US" sz="1580" dirty="0"/>
          </a:p>
        </p:txBody>
      </p:sp>
      <p:sp>
        <p:nvSpPr>
          <p:cNvPr id="19" name="Text 17"/>
          <p:cNvSpPr/>
          <p:nvPr/>
        </p:nvSpPr>
        <p:spPr>
          <a:xfrm>
            <a:off x="548580" y="5002857"/>
            <a:ext cx="725051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0"/>
              </a:spcBef>
              <a:buNone/>
            </a:pPr>
            <a:r>
              <a:rPr lang="en-US" sz="1220" spc="73" kern="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CLTV IS EFFECTIVELY CAPPED AT ONE ORDER FOR MOST CUSTOMERS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48580" y="4746427"/>
            <a:ext cx="1643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B7C8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4054301" y="4741664"/>
            <a:ext cx="2775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43" kern="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RETENTION ANALYSIS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8430816" y="4746427"/>
            <a:ext cx="2711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B7C8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</a:t>
            </a:r>
            <a:endParaRPr lang="en-US" sz="108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1516" y="2082775"/>
            <a:ext cx="4024312" cy="2495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EFE7"/>
          </a:solidFill>
          <a:ln/>
        </p:spPr>
      </p:sp>
      <p:sp>
        <p:nvSpPr>
          <p:cNvPr id="3" name="Shape 1"/>
          <p:cNvSpPr/>
          <p:nvPr/>
        </p:nvSpPr>
        <p:spPr>
          <a:xfrm>
            <a:off x="547501" y="495188"/>
            <a:ext cx="38100" cy="38100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4" name="Text 2"/>
          <p:cNvSpPr/>
          <p:nvPr/>
        </p:nvSpPr>
        <p:spPr>
          <a:xfrm>
            <a:off x="675903" y="425723"/>
            <a:ext cx="21799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RECOMMENDATIONS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48580" y="677838"/>
            <a:ext cx="7726174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40" b="1" spc="-227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actions put retention on the</a:t>
            </a:r>
            <a:endParaRPr lang="en-US" sz="3240" dirty="0"/>
          </a:p>
        </p:txBody>
      </p:sp>
      <p:sp>
        <p:nvSpPr>
          <p:cNvPr id="6" name="Text 4"/>
          <p:cNvSpPr/>
          <p:nvPr/>
        </p:nvSpPr>
        <p:spPr>
          <a:xfrm>
            <a:off x="548580" y="1097533"/>
            <a:ext cx="4172396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40" b="1" spc="-227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operating agenda.</a:t>
            </a:r>
            <a:endParaRPr lang="en-US" sz="3240" dirty="0"/>
          </a:p>
        </p:txBody>
      </p:sp>
      <p:sp>
        <p:nvSpPr>
          <p:cNvPr id="7" name="Shape 5"/>
          <p:cNvSpPr/>
          <p:nvPr/>
        </p:nvSpPr>
        <p:spPr>
          <a:xfrm>
            <a:off x="547688" y="1929147"/>
            <a:ext cx="8048625" cy="747712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548580" y="2101081"/>
            <a:ext cx="510659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520" dirty="0"/>
          </a:p>
        </p:txBody>
      </p:sp>
      <p:sp>
        <p:nvSpPr>
          <p:cNvPr id="9" name="Text 7"/>
          <p:cNvSpPr/>
          <p:nvPr/>
        </p:nvSpPr>
        <p:spPr>
          <a:xfrm>
            <a:off x="1550715" y="2048768"/>
            <a:ext cx="313662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3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Launch a first-60-day</a:t>
            </a:r>
            <a:endParaRPr lang="en-US" sz="1730" dirty="0"/>
          </a:p>
        </p:txBody>
      </p:sp>
      <p:sp>
        <p:nvSpPr>
          <p:cNvPr id="10" name="Text 8"/>
          <p:cNvSpPr/>
          <p:nvPr/>
        </p:nvSpPr>
        <p:spPr>
          <a:xfrm>
            <a:off x="1550715" y="2279154"/>
            <a:ext cx="2703716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3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re-engagement trigger</a:t>
            </a:r>
            <a:endParaRPr lang="en-US" sz="1730" dirty="0"/>
          </a:p>
        </p:txBody>
      </p:sp>
      <p:sp>
        <p:nvSpPr>
          <p:cNvPr id="11" name="Text 9"/>
          <p:cNvSpPr/>
          <p:nvPr/>
        </p:nvSpPr>
        <p:spPr>
          <a:xfrm>
            <a:off x="4908426" y="2104206"/>
            <a:ext cx="41812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Email or discount targeted to days 15–45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08426" y="2293441"/>
            <a:ext cx="462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post-purchase. Expected 4–6× lift in repeat buyers.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7688" y="2804480"/>
            <a:ext cx="8048625" cy="747712"/>
          </a:xfrm>
          <a:prstGeom prst="rect">
            <a:avLst/>
          </a:prstGeom>
          <a:ln/>
        </p:spPr>
      </p:sp>
      <p:sp>
        <p:nvSpPr>
          <p:cNvPr id="14" name="Text 12"/>
          <p:cNvSpPr/>
          <p:nvPr/>
        </p:nvSpPr>
        <p:spPr>
          <a:xfrm>
            <a:off x="548580" y="2976414"/>
            <a:ext cx="573829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520" dirty="0"/>
          </a:p>
        </p:txBody>
      </p:sp>
      <p:sp>
        <p:nvSpPr>
          <p:cNvPr id="15" name="Text 13"/>
          <p:cNvSpPr/>
          <p:nvPr/>
        </p:nvSpPr>
        <p:spPr>
          <a:xfrm>
            <a:off x="1550715" y="2924101"/>
            <a:ext cx="355414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3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Investigate the root cause</a:t>
            </a:r>
            <a:endParaRPr lang="en-US" sz="1730" dirty="0"/>
          </a:p>
        </p:txBody>
      </p:sp>
      <p:sp>
        <p:nvSpPr>
          <p:cNvPr id="16" name="Text 14"/>
          <p:cNvSpPr/>
          <p:nvPr/>
        </p:nvSpPr>
        <p:spPr>
          <a:xfrm>
            <a:off x="1550715" y="3154487"/>
            <a:ext cx="351322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3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scaling acquisition</a:t>
            </a:r>
            <a:endParaRPr lang="en-US" sz="1730" dirty="0"/>
          </a:p>
        </p:txBody>
      </p:sp>
      <p:sp>
        <p:nvSpPr>
          <p:cNvPr id="17" name="Text 15"/>
          <p:cNvSpPr/>
          <p:nvPr/>
        </p:nvSpPr>
        <p:spPr>
          <a:xfrm>
            <a:off x="4908426" y="2979539"/>
            <a:ext cx="426632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delivery experience, seller quality, 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08426" y="3168774"/>
            <a:ext cx="464573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marketplace UX as drivers of one-time buying.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7688" y="3679813"/>
            <a:ext cx="8048625" cy="757238"/>
          </a:xfrm>
          <a:prstGeom prst="rect">
            <a:avLst/>
          </a:prstGeom>
          <a:ln/>
        </p:spPr>
      </p:sp>
      <p:sp>
        <p:nvSpPr>
          <p:cNvPr id="20" name="Text 18"/>
          <p:cNvSpPr/>
          <p:nvPr/>
        </p:nvSpPr>
        <p:spPr>
          <a:xfrm>
            <a:off x="548580" y="3851746"/>
            <a:ext cx="578376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20" b="1" dirty="0">
                <a:solidFill>
                  <a:srgbClr val="E46B5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520" dirty="0"/>
          </a:p>
        </p:txBody>
      </p:sp>
      <p:sp>
        <p:nvSpPr>
          <p:cNvPr id="21" name="Text 19"/>
          <p:cNvSpPr/>
          <p:nvPr/>
        </p:nvSpPr>
        <p:spPr>
          <a:xfrm>
            <a:off x="1550715" y="3799433"/>
            <a:ext cx="383149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3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Make month-1 and month-3</a:t>
            </a:r>
            <a:endParaRPr lang="en-US" sz="1730" dirty="0"/>
          </a:p>
        </p:txBody>
      </p:sp>
      <p:sp>
        <p:nvSpPr>
          <p:cNvPr id="22" name="Text 20"/>
          <p:cNvSpPr/>
          <p:nvPr/>
        </p:nvSpPr>
        <p:spPr>
          <a:xfrm>
            <a:off x="1550715" y="4029819"/>
            <a:ext cx="32940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3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retention executive KPIs</a:t>
            </a:r>
            <a:endParaRPr lang="en-US" sz="1730" dirty="0"/>
          </a:p>
        </p:txBody>
      </p:sp>
      <p:sp>
        <p:nvSpPr>
          <p:cNvPr id="23" name="Text 21"/>
          <p:cNvSpPr/>
          <p:nvPr/>
        </p:nvSpPr>
        <p:spPr>
          <a:xfrm>
            <a:off x="4908426" y="3854872"/>
            <a:ext cx="434410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cohort retention to the dashboard and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08426" y="4044107"/>
            <a:ext cx="32064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it in the growth cadence.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580" y="4746427"/>
            <a:ext cx="1643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053557" y="4741664"/>
            <a:ext cx="2775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43" kern="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RETENTION ANALYSIS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8429327" y="4746427"/>
            <a:ext cx="2730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</a:t>
            </a:r>
            <a:endParaRPr lang="en-US" sz="108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7688" y="1929147"/>
            <a:ext cx="8048625" cy="747712"/>
          </a:xfrm>
          <a:prstGeom prst="rect">
            <a:avLst/>
          </a:prstGeom>
        </p:spPr>
      </p:pic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88" y="2804480"/>
            <a:ext cx="8048625" cy="747712"/>
          </a:xfrm>
          <a:prstGeom prst="rect">
            <a:avLst/>
          </a:prstGeom>
        </p:spPr>
      </p:pic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88" y="3679813"/>
            <a:ext cx="8048625" cy="7572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5DDD1"/>
          </a:solidFill>
          <a:ln/>
        </p:spPr>
      </p:sp>
      <p:sp>
        <p:nvSpPr>
          <p:cNvPr id="3" name="Shape 1"/>
          <p:cNvSpPr/>
          <p:nvPr/>
        </p:nvSpPr>
        <p:spPr>
          <a:xfrm>
            <a:off x="8962095" y="0"/>
            <a:ext cx="180975" cy="5143500"/>
          </a:xfrm>
          <a:prstGeom prst="rect">
            <a:avLst/>
          </a:prstGeom>
          <a:solidFill>
            <a:srgbClr val="0E5663"/>
          </a:solidFill>
          <a:ln/>
        </p:spPr>
      </p:sp>
      <p:sp>
        <p:nvSpPr>
          <p:cNvPr id="4" name="Shape 2"/>
          <p:cNvSpPr/>
          <p:nvPr/>
        </p:nvSpPr>
        <p:spPr>
          <a:xfrm>
            <a:off x="547501" y="495188"/>
            <a:ext cx="38100" cy="38100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5" name="Text 3"/>
          <p:cNvSpPr/>
          <p:nvPr/>
        </p:nvSpPr>
        <p:spPr>
          <a:xfrm>
            <a:off x="675903" y="425723"/>
            <a:ext cx="262893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0E566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 STEPS / ROADMAP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677838"/>
            <a:ext cx="7375014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40" b="1" spc="-227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Turn the finding into a measured</a:t>
            </a:r>
            <a:endParaRPr lang="en-US" sz="3240" dirty="0"/>
          </a:p>
        </p:txBody>
      </p:sp>
      <p:sp>
        <p:nvSpPr>
          <p:cNvPr id="7" name="Text 5"/>
          <p:cNvSpPr/>
          <p:nvPr/>
        </p:nvSpPr>
        <p:spPr>
          <a:xfrm>
            <a:off x="548580" y="1097533"/>
            <a:ext cx="4691591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40" b="1" spc="-227" kern="0" dirty="0">
                <a:solidFill>
                  <a:srgbClr val="1722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two-cohort learning loop.</a:t>
            </a:r>
            <a:endParaRPr lang="en-US" sz="3240" dirty="0"/>
          </a:p>
        </p:txBody>
      </p:sp>
      <p:sp>
        <p:nvSpPr>
          <p:cNvPr id="8" name="Shape 6"/>
          <p:cNvSpPr/>
          <p:nvPr/>
        </p:nvSpPr>
        <p:spPr>
          <a:xfrm>
            <a:off x="1281113" y="2418792"/>
            <a:ext cx="6581775" cy="14288"/>
          </a:xfrm>
          <a:prstGeom prst="rect">
            <a:avLst/>
          </a:prstGeom>
          <a:solidFill>
            <a:srgbClr val="E46B52"/>
          </a:solidFill>
          <a:ln/>
        </p:spPr>
      </p:sp>
      <p:sp>
        <p:nvSpPr>
          <p:cNvPr id="9" name="Shape 7"/>
          <p:cNvSpPr/>
          <p:nvPr/>
        </p:nvSpPr>
        <p:spPr>
          <a:xfrm>
            <a:off x="548506" y="4513362"/>
            <a:ext cx="3862387" cy="409575"/>
          </a:xfrm>
          <a:prstGeom prst="rect">
            <a:avLst/>
          </a:prstGeom>
          <a:ln w="9525">
            <a:solidFill>
              <a:srgbClr val="0E56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941" y="4608984"/>
            <a:ext cx="457792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0"/>
              </a:spcBef>
              <a:buNone/>
            </a:pPr>
            <a:r>
              <a:rPr lang="en-US" sz="1300" spc="52" kern="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CHECKPOINT · 2 COHORT CYCLES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580" y="4746427"/>
            <a:ext cx="1643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051771" y="4741664"/>
            <a:ext cx="2775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43" kern="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RETENTION ANALYSIS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425755" y="4746427"/>
            <a:ext cx="2777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63706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097" y="2134902"/>
            <a:ext cx="566738" cy="566738"/>
          </a:xfrm>
          <a:prstGeom prst="ellipse">
            <a:avLst/>
          </a:prstGeom>
          <a:solidFill>
            <a:srgbClr val="0E5663"/>
          </a:solidFill>
          <a:ln/>
        </p:spPr>
      </p:sp>
      <p:sp>
        <p:nvSpPr>
          <p:cNvPr id="15" name="Text 13"/>
          <p:cNvSpPr/>
          <p:nvPr/>
        </p:nvSpPr>
        <p:spPr>
          <a:xfrm>
            <a:off x="642045" y="2195810"/>
            <a:ext cx="549548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40" b="1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740" dirty="0"/>
          </a:p>
        </p:txBody>
      </p:sp>
      <p:sp>
        <p:nvSpPr>
          <p:cNvPr id="16" name="Text 14"/>
          <p:cNvSpPr/>
          <p:nvPr/>
        </p:nvSpPr>
        <p:spPr>
          <a:xfrm>
            <a:off x="548580" y="2826841"/>
            <a:ext cx="124025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73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Pilot the</a:t>
            </a:r>
            <a:endParaRPr lang="en-US" sz="1730" dirty="0"/>
          </a:p>
        </p:txBody>
      </p:sp>
      <p:sp>
        <p:nvSpPr>
          <p:cNvPr id="17" name="Text 15"/>
          <p:cNvSpPr/>
          <p:nvPr/>
        </p:nvSpPr>
        <p:spPr>
          <a:xfrm>
            <a:off x="548580" y="3063776"/>
            <a:ext cx="313990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73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re-engagement campaign</a:t>
            </a:r>
            <a:endParaRPr lang="en-US" sz="1730" dirty="0"/>
          </a:p>
        </p:txBody>
      </p:sp>
      <p:sp>
        <p:nvSpPr>
          <p:cNvPr id="18" name="Text 16"/>
          <p:cNvSpPr/>
          <p:nvPr/>
        </p:nvSpPr>
        <p:spPr>
          <a:xfrm>
            <a:off x="548580" y="3396853"/>
            <a:ext cx="228290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days 15–45 and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580" y="3594348"/>
            <a:ext cx="232866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establish a baseline for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580" y="3791843"/>
            <a:ext cx="14789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buyers.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21807" y="2134902"/>
            <a:ext cx="566738" cy="566738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22" name="Text 20"/>
          <p:cNvSpPr/>
          <p:nvPr/>
        </p:nvSpPr>
        <p:spPr>
          <a:xfrm>
            <a:off x="3389412" y="2195810"/>
            <a:ext cx="61813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40" b="1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740" dirty="0"/>
          </a:p>
        </p:txBody>
      </p:sp>
      <p:sp>
        <p:nvSpPr>
          <p:cNvPr id="23" name="Text 21"/>
          <p:cNvSpPr/>
          <p:nvPr/>
        </p:nvSpPr>
        <p:spPr>
          <a:xfrm>
            <a:off x="3322290" y="2826841"/>
            <a:ext cx="267653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73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the root-cause</a:t>
            </a:r>
            <a:endParaRPr lang="en-US" sz="1730" dirty="0"/>
          </a:p>
        </p:txBody>
      </p:sp>
      <p:sp>
        <p:nvSpPr>
          <p:cNvPr id="24" name="Text 22"/>
          <p:cNvSpPr/>
          <p:nvPr/>
        </p:nvSpPr>
        <p:spPr>
          <a:xfrm>
            <a:off x="3322290" y="3063776"/>
            <a:ext cx="2099489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73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 sprint</a:t>
            </a:r>
            <a:endParaRPr lang="en-US" sz="1730" dirty="0"/>
          </a:p>
        </p:txBody>
      </p:sp>
      <p:sp>
        <p:nvSpPr>
          <p:cNvPr id="25" name="Text 23"/>
          <p:cNvSpPr/>
          <p:nvPr/>
        </p:nvSpPr>
        <p:spPr>
          <a:xfrm>
            <a:off x="3322290" y="3396853"/>
            <a:ext cx="240934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Pair customer feedback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22290" y="3594348"/>
            <a:ext cx="27130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delivery, seller, and UX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22290" y="3791843"/>
            <a:ext cx="123784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diagnostics.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95516" y="2134902"/>
            <a:ext cx="566738" cy="566738"/>
          </a:xfrm>
          <a:prstGeom prst="ellipse">
            <a:avLst/>
          </a:prstGeom>
          <a:solidFill>
            <a:srgbClr val="0E5663"/>
          </a:solidFill>
          <a:ln/>
        </p:spPr>
      </p:sp>
      <p:sp>
        <p:nvSpPr>
          <p:cNvPr id="29" name="Text 27"/>
          <p:cNvSpPr/>
          <p:nvPr/>
        </p:nvSpPr>
        <p:spPr>
          <a:xfrm>
            <a:off x="6161187" y="2195810"/>
            <a:ext cx="623166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40" b="1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740" dirty="0"/>
          </a:p>
        </p:txBody>
      </p:sp>
      <p:sp>
        <p:nvSpPr>
          <p:cNvPr id="30" name="Text 28"/>
          <p:cNvSpPr/>
          <p:nvPr/>
        </p:nvSpPr>
        <p:spPr>
          <a:xfrm>
            <a:off x="6096000" y="2826841"/>
            <a:ext cx="279213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73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retention to the</a:t>
            </a:r>
            <a:endParaRPr lang="en-US" sz="1730" dirty="0"/>
          </a:p>
        </p:txBody>
      </p:sp>
      <p:sp>
        <p:nvSpPr>
          <p:cNvPr id="31" name="Text 29"/>
          <p:cNvSpPr/>
          <p:nvPr/>
        </p:nvSpPr>
        <p:spPr>
          <a:xfrm>
            <a:off x="6096000" y="3063776"/>
            <a:ext cx="2549322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730" dirty="0">
                <a:solidFill>
                  <a:srgbClr val="0E56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reporting cadence</a:t>
            </a:r>
            <a:endParaRPr lang="en-US" sz="1730" dirty="0"/>
          </a:p>
        </p:txBody>
      </p:sp>
      <p:sp>
        <p:nvSpPr>
          <p:cNvPr id="32" name="Text 30"/>
          <p:cNvSpPr/>
          <p:nvPr/>
        </p:nvSpPr>
        <p:spPr>
          <a:xfrm>
            <a:off x="6096000" y="3396853"/>
            <a:ext cx="205595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month-1 and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96000" y="3594348"/>
            <a:ext cx="243352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month-3 retention after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096000" y="3791843"/>
            <a:ext cx="187524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1300" dirty="0">
                <a:solidFill>
                  <a:srgbClr val="637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cohort cycles.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221F"/>
          </a:solidFill>
          <a:ln/>
        </p:spPr>
      </p:sp>
      <p:sp>
        <p:nvSpPr>
          <p:cNvPr id="3" name="Shape 1"/>
          <p:cNvSpPr/>
          <p:nvPr/>
        </p:nvSpPr>
        <p:spPr>
          <a:xfrm>
            <a:off x="5668342" y="0"/>
            <a:ext cx="3476625" cy="5143500"/>
          </a:xfrm>
          <a:prstGeom prst="rect">
            <a:avLst/>
          </a:prstGeom>
          <a:solidFill>
            <a:srgbClr val="0E5663"/>
          </a:solidFill>
          <a:ln/>
        </p:spPr>
      </p:sp>
      <p:sp>
        <p:nvSpPr>
          <p:cNvPr id="4" name="Shape 2"/>
          <p:cNvSpPr/>
          <p:nvPr/>
        </p:nvSpPr>
        <p:spPr>
          <a:xfrm>
            <a:off x="5852666" y="822461"/>
            <a:ext cx="2833687" cy="2881313"/>
          </a:xfrm>
          <a:prstGeom prst="rect">
            <a:avLst/>
          </a:prstGeom>
          <a:ln w="4763">
            <a:solidFill>
              <a:srgbClr val="B7C8C3">
                <a:alpha val="8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5857429" y="827224"/>
            <a:ext cx="2824163" cy="28717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7501" y="700943"/>
            <a:ext cx="38100" cy="38100"/>
          </a:xfrm>
          <a:prstGeom prst="ellipse">
            <a:avLst/>
          </a:prstGeom>
          <a:solidFill>
            <a:srgbClr val="E46B52"/>
          </a:solidFill>
          <a:ln/>
        </p:spPr>
      </p:sp>
      <p:sp>
        <p:nvSpPr>
          <p:cNvPr id="7" name="Text 4"/>
          <p:cNvSpPr/>
          <p:nvPr/>
        </p:nvSpPr>
        <p:spPr>
          <a:xfrm>
            <a:off x="675903" y="631478"/>
            <a:ext cx="18437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73" kern="0" dirty="0">
                <a:solidFill>
                  <a:srgbClr val="B7C8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548580" y="835968"/>
            <a:ext cx="5369920" cy="757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80" b="1" spc="-374" kern="0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Make retention a</a:t>
            </a:r>
            <a:endParaRPr lang="en-US" sz="4680" dirty="0"/>
          </a:p>
        </p:txBody>
      </p:sp>
      <p:sp>
        <p:nvSpPr>
          <p:cNvPr id="9" name="Text 6"/>
          <p:cNvSpPr/>
          <p:nvPr/>
        </p:nvSpPr>
        <p:spPr>
          <a:xfrm>
            <a:off x="548580" y="1400547"/>
            <a:ext cx="4102745" cy="757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680" b="1" spc="-374" kern="0" dirty="0">
                <a:solidFill>
                  <a:srgbClr val="F3EFE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growth lever.</a:t>
            </a:r>
            <a:endParaRPr lang="en-US" sz="4680" dirty="0"/>
          </a:p>
        </p:txBody>
      </p:sp>
      <p:sp>
        <p:nvSpPr>
          <p:cNvPr id="10" name="Text 7"/>
          <p:cNvSpPr/>
          <p:nvPr/>
        </p:nvSpPr>
        <p:spPr>
          <a:xfrm>
            <a:off x="548580" y="2303264"/>
            <a:ext cx="4477316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158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report · Dashboard · GitHub repo</a:t>
            </a:r>
            <a:endParaRPr lang="en-US" sz="1580" dirty="0"/>
          </a:p>
        </p:txBody>
      </p:sp>
      <p:sp>
        <p:nvSpPr>
          <p:cNvPr id="11" name="Text 8"/>
          <p:cNvSpPr/>
          <p:nvPr/>
        </p:nvSpPr>
        <p:spPr>
          <a:xfrm>
            <a:off x="548580" y="3133651"/>
            <a:ext cx="345575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455"/>
              </a:spcBef>
              <a:buNone/>
            </a:pPr>
            <a:r>
              <a:rPr lang="en-US" sz="1300" spc="65" kern="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APEX ANALYTICX / PROJECT 03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580" y="3483397"/>
            <a:ext cx="504952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30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E-Commerce Customer Cohort Retention Analysis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580" y="4746427"/>
            <a:ext cx="16439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B7C8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APEX ANALYTICX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4054004" y="4741664"/>
            <a:ext cx="2775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43" kern="0" dirty="0">
                <a:solidFill>
                  <a:srgbClr val="B7C8C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RETENTION ANALYSIS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8430220" y="4746427"/>
            <a:ext cx="2719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86" kern="0" dirty="0">
                <a:solidFill>
                  <a:srgbClr val="B7C8C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2026-07-25T12:18:13Z</dcterms:created>
  <dcterms:modified xsi:type="dcterms:W3CDTF">2026-07-25T12:18:13Z</dcterms:modified>
</cp:coreProperties>
</file>